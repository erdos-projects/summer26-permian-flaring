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1DEA59C-D2C8-4963-9107-99CADC8CCA31}">
  <a:tblStyle styleId="{D1DEA59C-D2C8-4963-9107-99CADC8CCA3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 name="Google Shape;2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4e5a9b5b3_5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 name="Google Shape;54;g3f4e5a9b5b3_5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g3f4e5a9b5b3_5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4dd3a9742_1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4dd3a9742_1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g3f4dd3a9742_1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f4e5a9b5b3_16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g3f4e5a9b5b3_16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g3f4e5a9b5b3_16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4cd21b940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f4cd21b940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3f4cd21b940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4e5a9b5b3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f4e5a9b5b3_1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3f4e5a9b5b3_1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f4e5a9b5b3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f4e5a9b5b3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f4e5a9b5b3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9.jp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7.png"/><Relationship Id="rId5"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jpg"/><Relationship Id="rId4" Type="http://schemas.openxmlformats.org/officeDocument/2006/relationships/image" Target="../media/image10.png"/><Relationship Id="rId5"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jp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jpg"/><Relationship Id="rId4" Type="http://schemas.openxmlformats.org/officeDocument/2006/relationships/image" Target="../media/image14.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9.jpg"/><Relationship Id="rId4" Type="http://schemas.openxmlformats.org/officeDocument/2006/relationships/image" Target="../media/image16.gif"/><Relationship Id="rId5" Type="http://schemas.openxmlformats.org/officeDocument/2006/relationships/image" Target="../media/image15.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5" name="Shape 15"/>
        <p:cNvGrpSpPr/>
        <p:nvPr/>
      </p:nvGrpSpPr>
      <p:grpSpPr>
        <a:xfrm>
          <a:off x="0" y="0"/>
          <a:ext cx="0" cy="0"/>
          <a:chOff x="0" y="0"/>
          <a:chExt cx="0" cy="0"/>
        </a:xfrm>
      </p:grpSpPr>
      <p:pic>
        <p:nvPicPr>
          <p:cNvPr id="16" name="Google Shape;16;p3" title="flaring.jpg"/>
          <p:cNvPicPr preferRelativeResize="0"/>
          <p:nvPr/>
        </p:nvPicPr>
        <p:blipFill rotWithShape="1">
          <a:blip r:embed="rId3">
            <a:alphaModFix/>
          </a:blip>
          <a:srcRect b="7807" l="0" r="0" t="7798"/>
          <a:stretch/>
        </p:blipFill>
        <p:spPr>
          <a:xfrm>
            <a:off x="150" y="0"/>
            <a:ext cx="12191693" cy="6857999"/>
          </a:xfrm>
          <a:prstGeom prst="rect">
            <a:avLst/>
          </a:prstGeom>
          <a:noFill/>
          <a:ln>
            <a:noFill/>
          </a:ln>
        </p:spPr>
      </p:pic>
      <p:sp>
        <p:nvSpPr>
          <p:cNvPr id="17" name="Google Shape;17;p3"/>
          <p:cNvSpPr/>
          <p:nvPr/>
        </p:nvSpPr>
        <p:spPr>
          <a:xfrm>
            <a:off x="746707" y="5525260"/>
            <a:ext cx="10698600" cy="1005900"/>
          </a:xfrm>
          <a:prstGeom prst="rect">
            <a:avLst/>
          </a:prstGeom>
          <a:solidFill>
            <a:srgbClr val="000000">
              <a:alpha val="4726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200"/>
              <a:buFont typeface="Cambria"/>
              <a:buNone/>
            </a:pPr>
            <a:r>
              <a:rPr b="1" lang="en-US" sz="3200">
                <a:solidFill>
                  <a:srgbClr val="FFFFFF"/>
                </a:solidFill>
                <a:latin typeface="Cambria"/>
                <a:ea typeface="Cambria"/>
                <a:cs typeface="Cambria"/>
                <a:sym typeface="Cambria"/>
              </a:rPr>
              <a:t>Flaring in the Permian: what satellites see </a:t>
            </a:r>
            <a:r>
              <a:rPr b="1" lang="en-US" sz="2600">
                <a:solidFill>
                  <a:srgbClr val="FFFFFF"/>
                </a:solidFill>
                <a:latin typeface="Cambria"/>
                <a:ea typeface="Cambria"/>
                <a:cs typeface="Cambria"/>
                <a:sym typeface="Cambria"/>
              </a:rPr>
              <a:t>vs</a:t>
            </a:r>
            <a:r>
              <a:rPr b="1" lang="en-US" sz="3200">
                <a:solidFill>
                  <a:srgbClr val="FFFFFF"/>
                </a:solidFill>
                <a:latin typeface="Cambria"/>
                <a:ea typeface="Cambria"/>
                <a:cs typeface="Cambria"/>
                <a:sym typeface="Cambria"/>
              </a:rPr>
              <a:t> what operators report</a:t>
            </a:r>
            <a:endParaRPr b="0" i="0" sz="3200" u="none" cap="none" strike="noStrike">
              <a:solidFill>
                <a:schemeClr val="dk1"/>
              </a:solidFill>
              <a:latin typeface="Calibri"/>
              <a:ea typeface="Calibri"/>
              <a:cs typeface="Calibri"/>
              <a:sym typeface="Calibri"/>
            </a:endParaRPr>
          </a:p>
        </p:txBody>
      </p:sp>
      <p:sp>
        <p:nvSpPr>
          <p:cNvPr id="18" name="Google Shape;18;p3"/>
          <p:cNvSpPr/>
          <p:nvPr/>
        </p:nvSpPr>
        <p:spPr>
          <a:xfrm>
            <a:off x="746695" y="194140"/>
            <a:ext cx="10698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FB8AC"/>
              </a:buClr>
              <a:buSzPts val="1500"/>
              <a:buFont typeface="Calibri"/>
              <a:buNone/>
            </a:pPr>
            <a:r>
              <a:rPr b="0" i="1" lang="en-US" sz="1500" u="none" cap="none" strike="noStrike">
                <a:solidFill>
                  <a:srgbClr val="9FB8AC"/>
                </a:solidFill>
                <a:latin typeface="Calibri"/>
                <a:ea typeface="Calibri"/>
                <a:cs typeface="Calibri"/>
                <a:sym typeface="Calibri"/>
              </a:rPr>
              <a:t>Erdős Institute Data Science Boot Camp (Summer 2026)</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 name="Shape 23"/>
        <p:cNvGrpSpPr/>
        <p:nvPr/>
      </p:nvGrpSpPr>
      <p:grpSpPr>
        <a:xfrm>
          <a:off x="0" y="0"/>
          <a:ext cx="0" cy="0"/>
          <a:chOff x="0" y="0"/>
          <a:chExt cx="0" cy="0"/>
        </a:xfrm>
      </p:grpSpPr>
      <p:sp>
        <p:nvSpPr>
          <p:cNvPr id="24" name="Google Shape;24;p4"/>
          <p:cNvSpPr/>
          <p:nvPr/>
        </p:nvSpPr>
        <p:spPr>
          <a:xfrm>
            <a:off x="10972800" y="320040"/>
            <a:ext cx="91440" cy="91440"/>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a:off x="11201400" y="411480"/>
            <a:ext cx="54864" cy="54864"/>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a:off x="11082528" y="521208"/>
            <a:ext cx="73152" cy="73152"/>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11338560" y="365760"/>
            <a:ext cx="45720" cy="45720"/>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11247120" y="594360"/>
            <a:ext cx="54864" cy="54864"/>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11475720" y="484632"/>
            <a:ext cx="82296" cy="82296"/>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11045952" y="667512"/>
            <a:ext cx="45720" cy="45720"/>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11411712" y="640080"/>
            <a:ext cx="54864" cy="54864"/>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11539728" y="338328"/>
            <a:ext cx="45720" cy="45720"/>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11155680" y="731520"/>
            <a:ext cx="36576" cy="36576"/>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548640" y="45720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300"/>
              <a:buFont typeface="Calibri"/>
              <a:buNone/>
            </a:pPr>
            <a:r>
              <a:rPr b="1" i="0" lang="en-US" sz="1300" u="none" cap="none" strike="noStrike">
                <a:solidFill>
                  <a:srgbClr val="34D399"/>
                </a:solidFill>
                <a:latin typeface="Calibri"/>
                <a:ea typeface="Calibri"/>
                <a:cs typeface="Calibri"/>
                <a:sym typeface="Calibri"/>
              </a:rPr>
              <a:t>THE TEAM</a:t>
            </a:r>
            <a:endParaRPr b="0" i="0" sz="1300" u="none" cap="none" strike="noStrike">
              <a:solidFill>
                <a:schemeClr val="dk1"/>
              </a:solidFill>
              <a:latin typeface="Calibri"/>
              <a:ea typeface="Calibri"/>
              <a:cs typeface="Calibri"/>
              <a:sym typeface="Calibri"/>
            </a:endParaRPr>
          </a:p>
        </p:txBody>
      </p:sp>
      <p:sp>
        <p:nvSpPr>
          <p:cNvPr id="35" name="Google Shape;35;p4"/>
          <p:cNvSpPr/>
          <p:nvPr/>
        </p:nvSpPr>
        <p:spPr>
          <a:xfrm>
            <a:off x="548640" y="731520"/>
            <a:ext cx="10515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FBF7"/>
              </a:buClr>
              <a:buSzPts val="3000"/>
              <a:buFont typeface="Cambria"/>
              <a:buNone/>
            </a:pPr>
            <a:r>
              <a:rPr b="1" i="0" lang="en-US" sz="3000" u="none" cap="none" strike="noStrike">
                <a:solidFill>
                  <a:srgbClr val="F2FBF7"/>
                </a:solidFill>
                <a:latin typeface="Cambria"/>
                <a:ea typeface="Cambria"/>
                <a:cs typeface="Cambria"/>
                <a:sym typeface="Cambria"/>
              </a:rPr>
              <a:t>Who Built This</a:t>
            </a:r>
            <a:endParaRPr b="0" i="0" sz="3000" u="none" cap="none" strike="noStrike">
              <a:solidFill>
                <a:schemeClr val="dk1"/>
              </a:solidFill>
              <a:latin typeface="Calibri"/>
              <a:ea typeface="Calibri"/>
              <a:cs typeface="Calibri"/>
              <a:sym typeface="Calibri"/>
            </a:endParaRPr>
          </a:p>
        </p:txBody>
      </p:sp>
      <p:sp>
        <p:nvSpPr>
          <p:cNvPr id="36" name="Google Shape;36;p4"/>
          <p:cNvSpPr/>
          <p:nvPr/>
        </p:nvSpPr>
        <p:spPr>
          <a:xfrm>
            <a:off x="586588" y="2103120"/>
            <a:ext cx="2514600" cy="3246120"/>
          </a:xfrm>
          <a:prstGeom prst="roundRect">
            <a:avLst>
              <a:gd fmla="val 4364" name="adj"/>
            </a:avLst>
          </a:prstGeom>
          <a:solidFill>
            <a:srgbClr val="111815"/>
          </a:solidFill>
          <a:ln cap="flat" cmpd="sng" w="12700">
            <a:solidFill>
              <a:srgbClr val="1F6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pptx_build/photos/abhishek_circle.png" id="37" name="Google Shape;37;p4"/>
          <p:cNvPicPr preferRelativeResize="0"/>
          <p:nvPr/>
        </p:nvPicPr>
        <p:blipFill rotWithShape="1">
          <a:blip r:embed="rId4">
            <a:alphaModFix/>
          </a:blip>
          <a:srcRect b="0" l="0" r="0" t="0"/>
          <a:stretch/>
        </p:blipFill>
        <p:spPr>
          <a:xfrm>
            <a:off x="1112368" y="2514600"/>
            <a:ext cx="1463040" cy="1463040"/>
          </a:xfrm>
          <a:prstGeom prst="rect">
            <a:avLst/>
          </a:prstGeom>
          <a:noFill/>
          <a:ln>
            <a:noFill/>
          </a:ln>
        </p:spPr>
      </p:pic>
      <p:sp>
        <p:nvSpPr>
          <p:cNvPr id="38" name="Google Shape;38;p4"/>
          <p:cNvSpPr/>
          <p:nvPr/>
        </p:nvSpPr>
        <p:spPr>
          <a:xfrm>
            <a:off x="769468" y="4251960"/>
            <a:ext cx="21488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FBF7"/>
              </a:buClr>
              <a:buSzPts val="1600"/>
              <a:buFont typeface="Cambria"/>
              <a:buNone/>
            </a:pPr>
            <a:r>
              <a:rPr b="1" i="0" lang="en-US" sz="1600" u="none" cap="none" strike="noStrike">
                <a:solidFill>
                  <a:srgbClr val="F2FBF7"/>
                </a:solidFill>
                <a:latin typeface="Cambria"/>
                <a:ea typeface="Cambria"/>
                <a:cs typeface="Cambria"/>
                <a:sym typeface="Cambria"/>
              </a:rPr>
              <a:t>Abhishek</a:t>
            </a:r>
            <a:endParaRPr b="0" i="0" sz="1600" u="none" cap="none" strike="noStrike">
              <a:solidFill>
                <a:schemeClr val="dk1"/>
              </a:solidFill>
              <a:latin typeface="Calibri"/>
              <a:ea typeface="Calibri"/>
              <a:cs typeface="Calibri"/>
              <a:sym typeface="Calibri"/>
            </a:endParaRPr>
          </a:p>
        </p:txBody>
      </p:sp>
      <p:sp>
        <p:nvSpPr>
          <p:cNvPr id="39" name="Google Shape;39;p4"/>
          <p:cNvSpPr/>
          <p:nvPr/>
        </p:nvSpPr>
        <p:spPr>
          <a:xfrm>
            <a:off x="723748" y="4663440"/>
            <a:ext cx="2240280" cy="5943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9FB8AC"/>
              </a:buClr>
              <a:buSzPts val="1150"/>
              <a:buFont typeface="Calibri"/>
              <a:buNone/>
            </a:pPr>
            <a:r>
              <a:rPr b="0" i="1" lang="en-US" sz="1150" u="none" cap="none" strike="noStrike">
                <a:solidFill>
                  <a:srgbClr val="9FB8AC"/>
                </a:solidFill>
                <a:latin typeface="Calibri"/>
                <a:ea typeface="Calibri"/>
                <a:cs typeface="Calibri"/>
                <a:sym typeface="Calibri"/>
              </a:rPr>
              <a:t>Graduate Student,</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FB8AC"/>
              </a:buClr>
              <a:buSzPts val="1150"/>
              <a:buFont typeface="Calibri"/>
              <a:buNone/>
            </a:pPr>
            <a:r>
              <a:rPr b="0" i="1" lang="en-US" sz="1150" u="none" cap="none" strike="noStrike">
                <a:solidFill>
                  <a:srgbClr val="9FB8AC"/>
                </a:solidFill>
                <a:latin typeface="Calibri"/>
                <a:ea typeface="Calibri"/>
                <a:cs typeface="Calibri"/>
                <a:sym typeface="Calibri"/>
              </a:rPr>
              <a:t>University of Michigan</a:t>
            </a:r>
            <a:endParaRPr b="0" i="0" sz="1150" u="none" cap="none" strike="noStrike">
              <a:solidFill>
                <a:schemeClr val="dk1"/>
              </a:solidFill>
              <a:latin typeface="Calibri"/>
              <a:ea typeface="Calibri"/>
              <a:cs typeface="Calibri"/>
              <a:sym typeface="Calibri"/>
            </a:endParaRPr>
          </a:p>
        </p:txBody>
      </p:sp>
      <p:sp>
        <p:nvSpPr>
          <p:cNvPr id="40" name="Google Shape;40;p4"/>
          <p:cNvSpPr/>
          <p:nvPr/>
        </p:nvSpPr>
        <p:spPr>
          <a:xfrm>
            <a:off x="3421228" y="2103120"/>
            <a:ext cx="2514600" cy="3246120"/>
          </a:xfrm>
          <a:prstGeom prst="roundRect">
            <a:avLst>
              <a:gd fmla="val 4364" name="adj"/>
            </a:avLst>
          </a:prstGeom>
          <a:solidFill>
            <a:srgbClr val="111815"/>
          </a:solidFill>
          <a:ln cap="flat" cmpd="sng" w="12700">
            <a:solidFill>
              <a:srgbClr val="1F6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pptx_build/photos/amey_circle.png" id="41" name="Google Shape;41;p4"/>
          <p:cNvPicPr preferRelativeResize="0"/>
          <p:nvPr/>
        </p:nvPicPr>
        <p:blipFill rotWithShape="1">
          <a:blip r:embed="rId5">
            <a:alphaModFix/>
          </a:blip>
          <a:srcRect b="0" l="0" r="0" t="0"/>
          <a:stretch/>
        </p:blipFill>
        <p:spPr>
          <a:xfrm>
            <a:off x="3947008" y="2514600"/>
            <a:ext cx="1463040" cy="1463040"/>
          </a:xfrm>
          <a:prstGeom prst="rect">
            <a:avLst/>
          </a:prstGeom>
          <a:noFill/>
          <a:ln>
            <a:noFill/>
          </a:ln>
        </p:spPr>
      </p:pic>
      <p:sp>
        <p:nvSpPr>
          <p:cNvPr id="42" name="Google Shape;42;p4"/>
          <p:cNvSpPr/>
          <p:nvPr/>
        </p:nvSpPr>
        <p:spPr>
          <a:xfrm>
            <a:off x="3604108" y="4251960"/>
            <a:ext cx="21488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FBF7"/>
              </a:buClr>
              <a:buSzPts val="1600"/>
              <a:buFont typeface="Cambria"/>
              <a:buNone/>
            </a:pPr>
            <a:r>
              <a:rPr b="1" i="0" lang="en-US" sz="1600" u="none" cap="none" strike="noStrike">
                <a:solidFill>
                  <a:srgbClr val="F2FBF7"/>
                </a:solidFill>
                <a:latin typeface="Cambria"/>
                <a:ea typeface="Cambria"/>
                <a:cs typeface="Cambria"/>
                <a:sym typeface="Cambria"/>
              </a:rPr>
              <a:t>Amey</a:t>
            </a:r>
            <a:endParaRPr b="0" i="0" sz="1600" u="none" cap="none" strike="noStrike">
              <a:solidFill>
                <a:schemeClr val="dk1"/>
              </a:solidFill>
              <a:latin typeface="Calibri"/>
              <a:ea typeface="Calibri"/>
              <a:cs typeface="Calibri"/>
              <a:sym typeface="Calibri"/>
            </a:endParaRPr>
          </a:p>
        </p:txBody>
      </p:sp>
      <p:sp>
        <p:nvSpPr>
          <p:cNvPr id="43" name="Google Shape;43;p4"/>
          <p:cNvSpPr/>
          <p:nvPr/>
        </p:nvSpPr>
        <p:spPr>
          <a:xfrm>
            <a:off x="3558388" y="4663440"/>
            <a:ext cx="2240280" cy="5943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9FB8AC"/>
              </a:buClr>
              <a:buSzPts val="1150"/>
              <a:buFont typeface="Calibri"/>
              <a:buNone/>
            </a:pPr>
            <a:r>
              <a:rPr b="0" i="1" lang="en-US" sz="1150" u="none" cap="none" strike="noStrike">
                <a:solidFill>
                  <a:srgbClr val="9FB8AC"/>
                </a:solidFill>
                <a:latin typeface="Calibri"/>
                <a:ea typeface="Calibri"/>
                <a:cs typeface="Calibri"/>
                <a:sym typeface="Calibri"/>
              </a:rPr>
              <a:t>Graduate Student,</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FB8AC"/>
              </a:buClr>
              <a:buSzPts val="1150"/>
              <a:buFont typeface="Calibri"/>
              <a:buNone/>
            </a:pPr>
            <a:r>
              <a:rPr b="0" i="1" lang="en-US" sz="1150" u="none" cap="none" strike="noStrike">
                <a:solidFill>
                  <a:srgbClr val="9FB8AC"/>
                </a:solidFill>
                <a:latin typeface="Calibri"/>
                <a:ea typeface="Calibri"/>
                <a:cs typeface="Calibri"/>
                <a:sym typeface="Calibri"/>
              </a:rPr>
              <a:t>Michigan State University</a:t>
            </a:r>
            <a:endParaRPr b="0" i="0" sz="1150" u="none" cap="none" strike="noStrike">
              <a:solidFill>
                <a:schemeClr val="dk1"/>
              </a:solidFill>
              <a:latin typeface="Calibri"/>
              <a:ea typeface="Calibri"/>
              <a:cs typeface="Calibri"/>
              <a:sym typeface="Calibri"/>
            </a:endParaRPr>
          </a:p>
        </p:txBody>
      </p:sp>
      <p:sp>
        <p:nvSpPr>
          <p:cNvPr id="44" name="Google Shape;44;p4"/>
          <p:cNvSpPr/>
          <p:nvPr/>
        </p:nvSpPr>
        <p:spPr>
          <a:xfrm>
            <a:off x="6255868" y="2103120"/>
            <a:ext cx="2514600" cy="3246120"/>
          </a:xfrm>
          <a:prstGeom prst="roundRect">
            <a:avLst>
              <a:gd fmla="val 4364" name="adj"/>
            </a:avLst>
          </a:prstGeom>
          <a:solidFill>
            <a:srgbClr val="111815"/>
          </a:solidFill>
          <a:ln cap="flat" cmpd="sng" w="12700">
            <a:solidFill>
              <a:srgbClr val="1F6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pptx_build/photos/sabarenath_circle.png" id="45" name="Google Shape;45;p4"/>
          <p:cNvPicPr preferRelativeResize="0"/>
          <p:nvPr/>
        </p:nvPicPr>
        <p:blipFill rotWithShape="1">
          <a:blip r:embed="rId6">
            <a:alphaModFix/>
          </a:blip>
          <a:srcRect b="0" l="0" r="0" t="0"/>
          <a:stretch/>
        </p:blipFill>
        <p:spPr>
          <a:xfrm>
            <a:off x="6781648" y="2514600"/>
            <a:ext cx="1463040" cy="1463040"/>
          </a:xfrm>
          <a:prstGeom prst="rect">
            <a:avLst/>
          </a:prstGeom>
          <a:noFill/>
          <a:ln>
            <a:noFill/>
          </a:ln>
        </p:spPr>
      </p:pic>
      <p:sp>
        <p:nvSpPr>
          <p:cNvPr id="46" name="Google Shape;46;p4"/>
          <p:cNvSpPr/>
          <p:nvPr/>
        </p:nvSpPr>
        <p:spPr>
          <a:xfrm>
            <a:off x="6438748" y="4251960"/>
            <a:ext cx="21488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FBF7"/>
              </a:buClr>
              <a:buSzPts val="1600"/>
              <a:buFont typeface="Cambria"/>
              <a:buNone/>
            </a:pPr>
            <a:r>
              <a:rPr b="1" lang="en-US" sz="1600">
                <a:solidFill>
                  <a:srgbClr val="F2FBF7"/>
                </a:solidFill>
                <a:latin typeface="Cambria"/>
                <a:ea typeface="Cambria"/>
                <a:cs typeface="Cambria"/>
                <a:sym typeface="Cambria"/>
              </a:rPr>
              <a:t>Sabarenath</a:t>
            </a:r>
            <a:endParaRPr b="0" i="0" sz="1600" u="none" cap="none" strike="noStrike">
              <a:solidFill>
                <a:schemeClr val="dk1"/>
              </a:solidFill>
              <a:latin typeface="Calibri"/>
              <a:ea typeface="Calibri"/>
              <a:cs typeface="Calibri"/>
              <a:sym typeface="Calibri"/>
            </a:endParaRPr>
          </a:p>
        </p:txBody>
      </p:sp>
      <p:sp>
        <p:nvSpPr>
          <p:cNvPr id="47" name="Google Shape;47;p4"/>
          <p:cNvSpPr/>
          <p:nvPr/>
        </p:nvSpPr>
        <p:spPr>
          <a:xfrm>
            <a:off x="6393028" y="4663440"/>
            <a:ext cx="2240280" cy="5943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9FB8AC"/>
              </a:buClr>
              <a:buSzPts val="1150"/>
              <a:buFont typeface="Calibri"/>
              <a:buNone/>
            </a:pPr>
            <a:r>
              <a:rPr b="0" i="1" lang="en-US" sz="1150" u="none" cap="none" strike="noStrike">
                <a:solidFill>
                  <a:srgbClr val="9FB8AC"/>
                </a:solidFill>
                <a:latin typeface="Calibri"/>
                <a:ea typeface="Calibri"/>
                <a:cs typeface="Calibri"/>
                <a:sym typeface="Calibri"/>
              </a:rPr>
              <a:t>Graduate Student,</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FB8AC"/>
              </a:buClr>
              <a:buSzPts val="1150"/>
              <a:buFont typeface="Calibri"/>
              <a:buNone/>
            </a:pPr>
            <a:r>
              <a:rPr b="0" i="1" lang="en-US" sz="1150" u="none" cap="none" strike="noStrike">
                <a:solidFill>
                  <a:srgbClr val="9FB8AC"/>
                </a:solidFill>
                <a:latin typeface="Calibri"/>
                <a:ea typeface="Calibri"/>
                <a:cs typeface="Calibri"/>
                <a:sym typeface="Calibri"/>
              </a:rPr>
              <a:t>University of Michigan</a:t>
            </a:r>
            <a:endParaRPr b="0" i="0" sz="1150" u="none" cap="none" strike="noStrike">
              <a:solidFill>
                <a:schemeClr val="dk1"/>
              </a:solidFill>
              <a:latin typeface="Calibri"/>
              <a:ea typeface="Calibri"/>
              <a:cs typeface="Calibri"/>
              <a:sym typeface="Calibri"/>
            </a:endParaRPr>
          </a:p>
        </p:txBody>
      </p:sp>
      <p:sp>
        <p:nvSpPr>
          <p:cNvPr id="48" name="Google Shape;48;p4"/>
          <p:cNvSpPr/>
          <p:nvPr/>
        </p:nvSpPr>
        <p:spPr>
          <a:xfrm>
            <a:off x="9090508" y="2103120"/>
            <a:ext cx="2514600" cy="3246120"/>
          </a:xfrm>
          <a:prstGeom prst="roundRect">
            <a:avLst>
              <a:gd fmla="val 4364" name="adj"/>
            </a:avLst>
          </a:prstGeom>
          <a:solidFill>
            <a:srgbClr val="111815"/>
          </a:solidFill>
          <a:ln cap="flat" cmpd="sng" w="12700">
            <a:solidFill>
              <a:srgbClr val="1F6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pptx_build/photos/vineeth_circle.png" id="49" name="Google Shape;49;p4"/>
          <p:cNvPicPr preferRelativeResize="0"/>
          <p:nvPr/>
        </p:nvPicPr>
        <p:blipFill rotWithShape="1">
          <a:blip r:embed="rId7">
            <a:alphaModFix/>
          </a:blip>
          <a:srcRect b="0" l="0" r="0" t="0"/>
          <a:stretch/>
        </p:blipFill>
        <p:spPr>
          <a:xfrm>
            <a:off x="9616288" y="2514600"/>
            <a:ext cx="1463040" cy="1463040"/>
          </a:xfrm>
          <a:prstGeom prst="rect">
            <a:avLst/>
          </a:prstGeom>
          <a:noFill/>
          <a:ln>
            <a:noFill/>
          </a:ln>
        </p:spPr>
      </p:pic>
      <p:sp>
        <p:nvSpPr>
          <p:cNvPr id="50" name="Google Shape;50;p4"/>
          <p:cNvSpPr/>
          <p:nvPr/>
        </p:nvSpPr>
        <p:spPr>
          <a:xfrm>
            <a:off x="9273388" y="4251960"/>
            <a:ext cx="21488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FBF7"/>
              </a:buClr>
              <a:buSzPts val="1600"/>
              <a:buFont typeface="Cambria"/>
              <a:buNone/>
            </a:pPr>
            <a:r>
              <a:rPr b="1" i="0" lang="en-US" sz="1600" u="none" cap="none" strike="noStrike">
                <a:solidFill>
                  <a:srgbClr val="F2FBF7"/>
                </a:solidFill>
                <a:latin typeface="Cambria"/>
                <a:ea typeface="Cambria"/>
                <a:cs typeface="Cambria"/>
                <a:sym typeface="Cambria"/>
              </a:rPr>
              <a:t>Vineeth</a:t>
            </a:r>
            <a:endParaRPr b="0" i="0" sz="1600" u="none" cap="none" strike="noStrike">
              <a:solidFill>
                <a:schemeClr val="dk1"/>
              </a:solidFill>
              <a:latin typeface="Calibri"/>
              <a:ea typeface="Calibri"/>
              <a:cs typeface="Calibri"/>
              <a:sym typeface="Calibri"/>
            </a:endParaRPr>
          </a:p>
        </p:txBody>
      </p:sp>
      <p:sp>
        <p:nvSpPr>
          <p:cNvPr id="51" name="Google Shape;51;p4"/>
          <p:cNvSpPr/>
          <p:nvPr/>
        </p:nvSpPr>
        <p:spPr>
          <a:xfrm>
            <a:off x="9227668" y="4663440"/>
            <a:ext cx="2240280" cy="5943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9FB8AC"/>
              </a:buClr>
              <a:buSzPts val="1150"/>
              <a:buFont typeface="Calibri"/>
              <a:buNone/>
            </a:pPr>
            <a:r>
              <a:rPr b="0" i="1" lang="en-US" sz="1150" u="none" cap="none" strike="noStrike">
                <a:solidFill>
                  <a:srgbClr val="9FB8AC"/>
                </a:solidFill>
                <a:latin typeface="Calibri"/>
                <a:ea typeface="Calibri"/>
                <a:cs typeface="Calibri"/>
                <a:sym typeface="Calibri"/>
              </a:rPr>
              <a:t>Postdoc,</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FB8AC"/>
              </a:buClr>
              <a:buSzPts val="1150"/>
              <a:buFont typeface="Calibri"/>
              <a:buNone/>
            </a:pPr>
            <a:r>
              <a:rPr b="0" i="1" lang="en-US" sz="1150" u="none" cap="none" strike="noStrike">
                <a:solidFill>
                  <a:srgbClr val="9FB8AC"/>
                </a:solidFill>
                <a:latin typeface="Calibri"/>
                <a:ea typeface="Calibri"/>
                <a:cs typeface="Calibri"/>
                <a:sym typeface="Calibri"/>
              </a:rPr>
              <a:t>University of Michigan</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pic>
        <p:nvPicPr>
          <p:cNvPr id="57" name="Google Shape;57;p5" title="flaring.jpg"/>
          <p:cNvPicPr preferRelativeResize="0"/>
          <p:nvPr/>
        </p:nvPicPr>
        <p:blipFill rotWithShape="1">
          <a:blip r:embed="rId3">
            <a:alphaModFix/>
          </a:blip>
          <a:srcRect b="7807" l="0" r="0" t="7798"/>
          <a:stretch/>
        </p:blipFill>
        <p:spPr>
          <a:xfrm>
            <a:off x="150" y="0"/>
            <a:ext cx="12191693" cy="6857999"/>
          </a:xfrm>
          <a:prstGeom prst="rect">
            <a:avLst/>
          </a:prstGeom>
          <a:noFill/>
          <a:ln>
            <a:noFill/>
          </a:ln>
        </p:spPr>
      </p:pic>
      <p:sp>
        <p:nvSpPr>
          <p:cNvPr id="58" name="Google Shape;58;p5"/>
          <p:cNvSpPr/>
          <p:nvPr/>
        </p:nvSpPr>
        <p:spPr>
          <a:xfrm>
            <a:off x="684675" y="266775"/>
            <a:ext cx="10515600" cy="98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FBF7"/>
              </a:buClr>
              <a:buSzPts val="3000"/>
              <a:buFont typeface="Cambria"/>
              <a:buNone/>
            </a:pPr>
            <a:r>
              <a:rPr b="1" lang="en-US" sz="3300">
                <a:solidFill>
                  <a:srgbClr val="F2FBF7"/>
                </a:solidFill>
                <a:latin typeface="Cambria"/>
                <a:ea typeface="Cambria"/>
                <a:cs typeface="Cambria"/>
                <a:sym typeface="Cambria"/>
              </a:rPr>
              <a:t>Satellite flaring data and the Texas reporting lag</a:t>
            </a:r>
            <a:endParaRPr b="0" i="0" sz="3300" u="none" cap="none" strike="noStrike">
              <a:solidFill>
                <a:schemeClr val="dk1"/>
              </a:solidFill>
              <a:latin typeface="Calibri"/>
              <a:ea typeface="Calibri"/>
              <a:cs typeface="Calibri"/>
              <a:sym typeface="Calibri"/>
            </a:endParaRPr>
          </a:p>
        </p:txBody>
      </p:sp>
      <p:sp>
        <p:nvSpPr>
          <p:cNvPr id="59" name="Google Shape;59;p5"/>
          <p:cNvSpPr txBox="1"/>
          <p:nvPr/>
        </p:nvSpPr>
        <p:spPr>
          <a:xfrm>
            <a:off x="782150" y="2357800"/>
            <a:ext cx="10202100" cy="35367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342900" lvl="0" marL="457200" rtl="0" algn="l">
              <a:spcBef>
                <a:spcPts val="0"/>
              </a:spcBef>
              <a:spcAft>
                <a:spcPts val="0"/>
              </a:spcAft>
              <a:buClr>
                <a:srgbClr val="F2FBF7"/>
              </a:buClr>
              <a:buSzPts val="1800"/>
              <a:buChar char="●"/>
            </a:pPr>
            <a:r>
              <a:rPr lang="en-US" sz="1800">
                <a:solidFill>
                  <a:srgbClr val="F2FBF7"/>
                </a:solidFill>
              </a:rPr>
              <a:t>The Permian basin, located in the states of Texas and New Mexico, accounts for ~44% of US crude oil production, and is one of the largest routine combustion sources on Earth.</a:t>
            </a:r>
            <a:endParaRPr sz="1800">
              <a:solidFill>
                <a:srgbClr val="F2FBF7"/>
              </a:solidFill>
            </a:endParaRPr>
          </a:p>
          <a:p>
            <a:pPr indent="0" lvl="0" marL="457200" rtl="0" algn="l">
              <a:spcBef>
                <a:spcPts val="0"/>
              </a:spcBef>
              <a:spcAft>
                <a:spcPts val="0"/>
              </a:spcAft>
              <a:buNone/>
            </a:pPr>
            <a:r>
              <a:t/>
            </a:r>
            <a:endParaRPr sz="1800">
              <a:solidFill>
                <a:srgbClr val="F2FBF7"/>
              </a:solidFill>
            </a:endParaRPr>
          </a:p>
          <a:p>
            <a:pPr indent="-342900" lvl="0" marL="457200" rtl="0" algn="l">
              <a:spcBef>
                <a:spcPts val="0"/>
              </a:spcBef>
              <a:spcAft>
                <a:spcPts val="0"/>
              </a:spcAft>
              <a:buClr>
                <a:srgbClr val="F2FBF7"/>
              </a:buClr>
              <a:buSzPts val="1800"/>
              <a:buChar char="●"/>
            </a:pPr>
            <a:r>
              <a:rPr lang="en-US" sz="1800">
                <a:solidFill>
                  <a:srgbClr val="F2FBF7"/>
                </a:solidFill>
              </a:rPr>
              <a:t>Texas oil and gas well operators self-report the quantities of gas they vented or flared to the agency that regulates them, the Texas Railroad Commission, with a long time lag. Stable figures are only available months later.</a:t>
            </a:r>
            <a:endParaRPr sz="1800">
              <a:solidFill>
                <a:srgbClr val="F2FBF7"/>
              </a:solidFill>
            </a:endParaRPr>
          </a:p>
          <a:p>
            <a:pPr indent="0" lvl="0" marL="0" rtl="0" algn="l">
              <a:spcBef>
                <a:spcPts val="0"/>
              </a:spcBef>
              <a:spcAft>
                <a:spcPts val="0"/>
              </a:spcAft>
              <a:buNone/>
            </a:pPr>
            <a:r>
              <a:t/>
            </a:r>
            <a:endParaRPr sz="1800">
              <a:solidFill>
                <a:srgbClr val="F2FBF7"/>
              </a:solidFill>
            </a:endParaRPr>
          </a:p>
          <a:p>
            <a:pPr indent="-342900" lvl="0" marL="457200" rtl="0" algn="l">
              <a:spcBef>
                <a:spcPts val="0"/>
              </a:spcBef>
              <a:spcAft>
                <a:spcPts val="0"/>
              </a:spcAft>
              <a:buClr>
                <a:srgbClr val="F2FBF7"/>
              </a:buClr>
              <a:buSzPts val="1800"/>
              <a:buChar char="●"/>
            </a:pPr>
            <a:r>
              <a:rPr lang="en-US" sz="1800">
                <a:solidFill>
                  <a:srgbClr val="F2FBF7"/>
                </a:solidFill>
              </a:rPr>
              <a:t>VIIRS observes the same flares nightly, subject to cloud cover, and the detections are published within about a day.</a:t>
            </a:r>
            <a:endParaRPr sz="1800">
              <a:solidFill>
                <a:srgbClr val="F2FBF7"/>
              </a:solidFill>
            </a:endParaRPr>
          </a:p>
          <a:p>
            <a:pPr indent="0" lvl="0" marL="0" rtl="0" algn="l">
              <a:spcBef>
                <a:spcPts val="0"/>
              </a:spcBef>
              <a:spcAft>
                <a:spcPts val="0"/>
              </a:spcAft>
              <a:buNone/>
            </a:pPr>
            <a:r>
              <a:t/>
            </a:r>
            <a:endParaRPr sz="1800">
              <a:solidFill>
                <a:srgbClr val="F2FBF7"/>
              </a:solidFill>
            </a:endParaRPr>
          </a:p>
          <a:p>
            <a:pPr indent="0" lvl="0" marL="457200" rtl="0" algn="l">
              <a:spcBef>
                <a:spcPts val="0"/>
              </a:spcBef>
              <a:spcAft>
                <a:spcPts val="0"/>
              </a:spcAft>
              <a:buNone/>
            </a:pPr>
            <a:r>
              <a:t/>
            </a:r>
            <a:endParaRPr sz="1800">
              <a:solidFill>
                <a:srgbClr val="F2FBF7"/>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64" name="Shape 64"/>
        <p:cNvGrpSpPr/>
        <p:nvPr/>
      </p:nvGrpSpPr>
      <p:grpSpPr>
        <a:xfrm>
          <a:off x="0" y="0"/>
          <a:ext cx="0" cy="0"/>
          <a:chOff x="0" y="0"/>
          <a:chExt cx="0" cy="0"/>
        </a:xfrm>
      </p:grpSpPr>
      <p:sp>
        <p:nvSpPr>
          <p:cNvPr id="65" name="Google Shape;65;p6"/>
          <p:cNvSpPr/>
          <p:nvPr/>
        </p:nvSpPr>
        <p:spPr>
          <a:xfrm>
            <a:off x="10972800" y="320040"/>
            <a:ext cx="91440" cy="91440"/>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11201400" y="411480"/>
            <a:ext cx="54864" cy="54864"/>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11082528" y="521208"/>
            <a:ext cx="73152" cy="73152"/>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11338560" y="365760"/>
            <a:ext cx="45720" cy="45720"/>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11247120" y="594360"/>
            <a:ext cx="54864" cy="54864"/>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6"/>
          <p:cNvSpPr/>
          <p:nvPr/>
        </p:nvSpPr>
        <p:spPr>
          <a:xfrm>
            <a:off x="11475720" y="484632"/>
            <a:ext cx="82296" cy="82296"/>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a:off x="11045952" y="667512"/>
            <a:ext cx="45720" cy="45720"/>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11411712" y="640080"/>
            <a:ext cx="54864" cy="54864"/>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a:off x="11539728" y="338328"/>
            <a:ext cx="45720" cy="45720"/>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a:off x="11155680" y="731520"/>
            <a:ext cx="36576" cy="36576"/>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5" name="Google Shape;75;p6" title="flaring.jpg"/>
          <p:cNvPicPr preferRelativeResize="0"/>
          <p:nvPr/>
        </p:nvPicPr>
        <p:blipFill rotWithShape="1">
          <a:blip r:embed="rId3">
            <a:alphaModFix/>
          </a:blip>
          <a:srcRect b="7807" l="0" r="0" t="7798"/>
          <a:stretch/>
        </p:blipFill>
        <p:spPr>
          <a:xfrm>
            <a:off x="150" y="0"/>
            <a:ext cx="12191693" cy="6857999"/>
          </a:xfrm>
          <a:prstGeom prst="rect">
            <a:avLst/>
          </a:prstGeom>
          <a:noFill/>
          <a:ln>
            <a:noFill/>
          </a:ln>
        </p:spPr>
      </p:pic>
      <p:sp>
        <p:nvSpPr>
          <p:cNvPr id="76" name="Google Shape;76;p6"/>
          <p:cNvSpPr/>
          <p:nvPr/>
        </p:nvSpPr>
        <p:spPr>
          <a:xfrm>
            <a:off x="475465" y="237678"/>
            <a:ext cx="10515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FBF7"/>
              </a:buClr>
              <a:buSzPts val="3000"/>
              <a:buFont typeface="Cambria"/>
              <a:buNone/>
            </a:pPr>
            <a:r>
              <a:rPr b="1" lang="en-US" sz="3000">
                <a:solidFill>
                  <a:srgbClr val="F2FBF7"/>
                </a:solidFill>
                <a:latin typeface="Cambria"/>
                <a:ea typeface="Cambria"/>
                <a:cs typeface="Cambria"/>
                <a:sym typeface="Cambria"/>
              </a:rPr>
              <a:t>Data gathering and processing</a:t>
            </a:r>
            <a:endParaRPr b="0" i="0" sz="3000" u="none" cap="none" strike="noStrike">
              <a:solidFill>
                <a:schemeClr val="dk1"/>
              </a:solidFill>
              <a:latin typeface="Calibri"/>
              <a:ea typeface="Calibri"/>
              <a:cs typeface="Calibri"/>
              <a:sym typeface="Calibri"/>
            </a:endParaRPr>
          </a:p>
        </p:txBody>
      </p:sp>
      <p:pic>
        <p:nvPicPr>
          <p:cNvPr id="77" name="Google Shape;77;p6"/>
          <p:cNvPicPr preferRelativeResize="0"/>
          <p:nvPr/>
        </p:nvPicPr>
        <p:blipFill>
          <a:blip r:embed="rId4">
            <a:alphaModFix/>
          </a:blip>
          <a:stretch>
            <a:fillRect/>
          </a:stretch>
        </p:blipFill>
        <p:spPr>
          <a:xfrm>
            <a:off x="475475" y="1355613"/>
            <a:ext cx="10032348" cy="3422026"/>
          </a:xfrm>
          <a:prstGeom prst="rect">
            <a:avLst/>
          </a:prstGeom>
          <a:noFill/>
          <a:ln>
            <a:noFill/>
          </a:ln>
        </p:spPr>
      </p:pic>
      <p:sp>
        <p:nvSpPr>
          <p:cNvPr id="78" name="Google Shape;78;p6"/>
          <p:cNvSpPr txBox="1"/>
          <p:nvPr/>
        </p:nvSpPr>
        <p:spPr>
          <a:xfrm>
            <a:off x="502925" y="877875"/>
            <a:ext cx="9287100" cy="374700"/>
          </a:xfrm>
          <a:prstGeom prst="rect">
            <a:avLst/>
          </a:prstGeom>
          <a:solidFill>
            <a:schemeClr val="dk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lt1"/>
                </a:solidFill>
              </a:rPr>
              <a:t>Raw data source: Texas Railroad Commision and Earth Observation Group at the </a:t>
            </a:r>
            <a:r>
              <a:rPr lang="en-US">
                <a:solidFill>
                  <a:schemeClr val="lt1"/>
                </a:solidFill>
              </a:rPr>
              <a:t>Colorado</a:t>
            </a:r>
            <a:r>
              <a:rPr lang="en-US">
                <a:solidFill>
                  <a:schemeClr val="lt1"/>
                </a:solidFill>
              </a:rPr>
              <a:t> School of Mines</a:t>
            </a:r>
            <a:endParaRPr>
              <a:solidFill>
                <a:schemeClr val="lt1"/>
              </a:solidFill>
            </a:endParaRPr>
          </a:p>
        </p:txBody>
      </p:sp>
      <p:pic>
        <p:nvPicPr>
          <p:cNvPr id="79" name="Google Shape;79;p6"/>
          <p:cNvPicPr preferRelativeResize="0"/>
          <p:nvPr/>
        </p:nvPicPr>
        <p:blipFill>
          <a:blip r:embed="rId5">
            <a:alphaModFix/>
          </a:blip>
          <a:stretch>
            <a:fillRect/>
          </a:stretch>
        </p:blipFill>
        <p:spPr>
          <a:xfrm>
            <a:off x="6663825" y="4563050"/>
            <a:ext cx="5334352" cy="1934576"/>
          </a:xfrm>
          <a:prstGeom prst="rect">
            <a:avLst/>
          </a:prstGeom>
          <a:noFill/>
          <a:ln>
            <a:noFill/>
          </a:ln>
        </p:spPr>
      </p:pic>
      <p:sp>
        <p:nvSpPr>
          <p:cNvPr id="80" name="Google Shape;80;p6"/>
          <p:cNvSpPr txBox="1"/>
          <p:nvPr/>
        </p:nvSpPr>
        <p:spPr>
          <a:xfrm>
            <a:off x="9790025" y="1252575"/>
            <a:ext cx="2241300" cy="158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lt1"/>
                </a:solidFill>
              </a:rPr>
              <a:t>Permian basin:</a:t>
            </a:r>
            <a:endParaRPr b="1">
              <a:solidFill>
                <a:schemeClr val="lt1"/>
              </a:solidFill>
            </a:endParaRPr>
          </a:p>
          <a:p>
            <a:pPr indent="0" lvl="0" marL="0" rtl="0" algn="l">
              <a:spcBef>
                <a:spcPts val="0"/>
              </a:spcBef>
              <a:spcAft>
                <a:spcPts val="0"/>
              </a:spcAft>
              <a:buNone/>
            </a:pPr>
            <a:r>
              <a:t/>
            </a:r>
            <a:endParaRPr sz="400">
              <a:solidFill>
                <a:schemeClr val="lt1"/>
              </a:solidFill>
            </a:endParaRPr>
          </a:p>
          <a:p>
            <a:pPr indent="0" lvl="0" marL="0" rtl="0" algn="l">
              <a:lnSpc>
                <a:spcPct val="115000"/>
              </a:lnSpc>
              <a:spcBef>
                <a:spcPts val="0"/>
              </a:spcBef>
              <a:spcAft>
                <a:spcPts val="0"/>
              </a:spcAft>
              <a:buClr>
                <a:schemeClr val="dk1"/>
              </a:buClr>
              <a:buSzPts val="1100"/>
              <a:buFont typeface="Arial"/>
              <a:buNone/>
            </a:pPr>
            <a:r>
              <a:rPr b="1" lang="en-US" sz="1100">
                <a:solidFill>
                  <a:schemeClr val="lt1"/>
                </a:solidFill>
              </a:rPr>
              <a:t>West longitude:</a:t>
            </a:r>
            <a:r>
              <a:rPr lang="en-US" sz="1100">
                <a:solidFill>
                  <a:schemeClr val="lt1"/>
                </a:solidFill>
              </a:rPr>
              <a:t> -105.21988</a:t>
            </a:r>
            <a:endParaRPr sz="1100">
              <a:solidFill>
                <a:schemeClr val="lt1"/>
              </a:solidFill>
            </a:endParaRPr>
          </a:p>
          <a:p>
            <a:pPr indent="0" lvl="0" marL="0" rtl="0" algn="l">
              <a:lnSpc>
                <a:spcPct val="115000"/>
              </a:lnSpc>
              <a:spcBef>
                <a:spcPts val="0"/>
              </a:spcBef>
              <a:spcAft>
                <a:spcPts val="0"/>
              </a:spcAft>
              <a:buClr>
                <a:schemeClr val="dk1"/>
              </a:buClr>
              <a:buSzPts val="1100"/>
              <a:buFont typeface="Arial"/>
              <a:buNone/>
            </a:pPr>
            <a:r>
              <a:rPr b="1" lang="en-US" sz="1100">
                <a:solidFill>
                  <a:schemeClr val="lt1"/>
                </a:solidFill>
              </a:rPr>
              <a:t>East longitude:</a:t>
            </a:r>
            <a:r>
              <a:rPr lang="en-US" sz="1100">
                <a:solidFill>
                  <a:schemeClr val="lt1"/>
                </a:solidFill>
              </a:rPr>
              <a:t> -100.036107</a:t>
            </a:r>
            <a:endParaRPr sz="1100">
              <a:solidFill>
                <a:schemeClr val="lt1"/>
              </a:solidFill>
            </a:endParaRPr>
          </a:p>
          <a:p>
            <a:pPr indent="0" lvl="0" marL="0" rtl="0" algn="l">
              <a:lnSpc>
                <a:spcPct val="115000"/>
              </a:lnSpc>
              <a:spcBef>
                <a:spcPts val="0"/>
              </a:spcBef>
              <a:spcAft>
                <a:spcPts val="0"/>
              </a:spcAft>
              <a:buClr>
                <a:schemeClr val="dk1"/>
              </a:buClr>
              <a:buSzPts val="1100"/>
              <a:buFont typeface="Arial"/>
              <a:buNone/>
            </a:pPr>
            <a:r>
              <a:rPr b="1" lang="en-US" sz="1100">
                <a:solidFill>
                  <a:schemeClr val="lt1"/>
                </a:solidFill>
              </a:rPr>
              <a:t>North latitude:</a:t>
            </a:r>
            <a:r>
              <a:rPr lang="en-US" sz="1100">
                <a:solidFill>
                  <a:schemeClr val="lt1"/>
                </a:solidFill>
              </a:rPr>
              <a:t> 34.021515</a:t>
            </a:r>
            <a:endParaRPr sz="1100">
              <a:solidFill>
                <a:schemeClr val="lt1"/>
              </a:solidFill>
            </a:endParaRPr>
          </a:p>
          <a:p>
            <a:pPr indent="0" lvl="0" marL="0" rtl="0" algn="l">
              <a:lnSpc>
                <a:spcPct val="115000"/>
              </a:lnSpc>
              <a:spcBef>
                <a:spcPts val="0"/>
              </a:spcBef>
              <a:spcAft>
                <a:spcPts val="0"/>
              </a:spcAft>
              <a:buClr>
                <a:schemeClr val="dk1"/>
              </a:buClr>
              <a:buSzPts val="1100"/>
              <a:buFont typeface="Arial"/>
              <a:buNone/>
            </a:pPr>
            <a:r>
              <a:rPr b="1" lang="en-US" sz="1100">
                <a:solidFill>
                  <a:schemeClr val="lt1"/>
                </a:solidFill>
              </a:rPr>
              <a:t>South latitude:</a:t>
            </a:r>
            <a:r>
              <a:rPr lang="en-US" sz="1100">
                <a:solidFill>
                  <a:schemeClr val="lt1"/>
                </a:solidFill>
              </a:rPr>
              <a:t> 29.462935.</a:t>
            </a:r>
            <a:endParaRPr sz="1100">
              <a:solidFill>
                <a:schemeClr val="lt1"/>
              </a:solidFill>
            </a:endParaRPr>
          </a:p>
          <a:p>
            <a:pPr indent="0" lvl="0" marL="0" rtl="0" algn="l">
              <a:spcBef>
                <a:spcPts val="0"/>
              </a:spcBef>
              <a:spcAft>
                <a:spcPts val="0"/>
              </a:spcAft>
              <a:buNone/>
            </a:pPr>
            <a:r>
              <a:t/>
            </a:r>
            <a:endParaRPr>
              <a:solidFill>
                <a:schemeClr val="lt1"/>
              </a:solidFill>
            </a:endParaRPr>
          </a:p>
        </p:txBody>
      </p:sp>
      <p:sp>
        <p:nvSpPr>
          <p:cNvPr id="81" name="Google Shape;81;p6"/>
          <p:cNvSpPr txBox="1"/>
          <p:nvPr/>
        </p:nvSpPr>
        <p:spPr>
          <a:xfrm>
            <a:off x="845500" y="5220675"/>
            <a:ext cx="4348200" cy="122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lt1"/>
                </a:solidFill>
              </a:rPr>
              <a:t>VIIRS sites account 31.6 of the total oil produced between 2012-2026</a:t>
            </a:r>
            <a:endParaRPr>
              <a:solidFill>
                <a:schemeClr val="lt1"/>
              </a:solidFill>
            </a:endParaRPr>
          </a:p>
          <a:p>
            <a:pPr indent="0" lvl="0" marL="0" rtl="0" algn="l">
              <a:spcBef>
                <a:spcPts val="0"/>
              </a:spcBef>
              <a:spcAft>
                <a:spcPts val="0"/>
              </a:spcAft>
              <a:buNone/>
            </a:pPr>
            <a:r>
              <a:t/>
            </a:r>
            <a:endParaRPr sz="500">
              <a:solidFill>
                <a:schemeClr val="lt1"/>
              </a:solidFill>
            </a:endParaRPr>
          </a:p>
          <a:p>
            <a:pPr indent="-317500" lvl="0" marL="457200" rtl="0" algn="l">
              <a:spcBef>
                <a:spcPts val="0"/>
              </a:spcBef>
              <a:spcAft>
                <a:spcPts val="0"/>
              </a:spcAft>
              <a:buClr>
                <a:schemeClr val="lt1"/>
              </a:buClr>
              <a:buSzPts val="1400"/>
              <a:buChar char="●"/>
            </a:pPr>
            <a:r>
              <a:rPr lang="en-US">
                <a:solidFill>
                  <a:schemeClr val="lt1"/>
                </a:solidFill>
              </a:rPr>
              <a:t>Peak: 43.1% in </a:t>
            </a:r>
            <a:r>
              <a:rPr lang="en-US">
                <a:solidFill>
                  <a:schemeClr val="lt1"/>
                </a:solidFill>
              </a:rPr>
              <a:t>February</a:t>
            </a:r>
            <a:r>
              <a:rPr lang="en-US">
                <a:solidFill>
                  <a:schemeClr val="lt1"/>
                </a:solidFill>
              </a:rPr>
              <a:t> 2020</a:t>
            </a:r>
            <a:endParaRPr>
              <a:solidFill>
                <a:schemeClr val="lt1"/>
              </a:solidFill>
            </a:endParaRPr>
          </a:p>
          <a:p>
            <a:pPr indent="-317500" lvl="0" marL="457200" rtl="0" algn="l">
              <a:spcBef>
                <a:spcPts val="0"/>
              </a:spcBef>
              <a:spcAft>
                <a:spcPts val="0"/>
              </a:spcAft>
              <a:buClr>
                <a:schemeClr val="lt1"/>
              </a:buClr>
              <a:buSzPts val="1400"/>
              <a:buChar char="●"/>
            </a:pPr>
            <a:r>
              <a:rPr lang="en-US">
                <a:solidFill>
                  <a:schemeClr val="lt1"/>
                </a:solidFill>
              </a:rPr>
              <a:t>23% in 2026</a:t>
            </a:r>
            <a:endParaRPr>
              <a:solidFill>
                <a:schemeClr val="lt1"/>
              </a:solidFill>
            </a:endParaRPr>
          </a:p>
          <a:p>
            <a:pPr indent="0" lvl="0" marL="0" rtl="0" algn="l">
              <a:spcBef>
                <a:spcPts val="0"/>
              </a:spcBef>
              <a:spcAft>
                <a:spcPts val="0"/>
              </a:spcAft>
              <a:buNone/>
            </a:pPr>
            <a:r>
              <a:t/>
            </a:r>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7" title="flaring.jpg"/>
          <p:cNvPicPr preferRelativeResize="0"/>
          <p:nvPr/>
        </p:nvPicPr>
        <p:blipFill rotWithShape="1">
          <a:blip r:embed="rId3">
            <a:alphaModFix/>
          </a:blip>
          <a:srcRect b="7807" l="0" r="0" t="7798"/>
          <a:stretch/>
        </p:blipFill>
        <p:spPr>
          <a:xfrm>
            <a:off x="150" y="0"/>
            <a:ext cx="12191693" cy="6857999"/>
          </a:xfrm>
          <a:prstGeom prst="rect">
            <a:avLst/>
          </a:prstGeom>
          <a:noFill/>
          <a:ln>
            <a:noFill/>
          </a:ln>
        </p:spPr>
      </p:pic>
      <p:sp>
        <p:nvSpPr>
          <p:cNvPr id="88" name="Google Shape;88;p7"/>
          <p:cNvSpPr/>
          <p:nvPr/>
        </p:nvSpPr>
        <p:spPr>
          <a:xfrm>
            <a:off x="427840" y="83778"/>
            <a:ext cx="10515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FBF7"/>
              </a:buClr>
              <a:buSzPts val="3000"/>
              <a:buFont typeface="Cambria"/>
              <a:buNone/>
            </a:pPr>
            <a:r>
              <a:rPr b="1" lang="en-US" sz="3000">
                <a:solidFill>
                  <a:srgbClr val="F2FBF7"/>
                </a:solidFill>
                <a:latin typeface="Cambria"/>
                <a:ea typeface="Cambria"/>
                <a:cs typeface="Cambria"/>
                <a:sym typeface="Cambria"/>
              </a:rPr>
              <a:t>Feature engineering story</a:t>
            </a:r>
            <a:endParaRPr b="0" i="0" sz="3000" u="none" cap="none" strike="noStrike">
              <a:solidFill>
                <a:schemeClr val="dk1"/>
              </a:solidFill>
              <a:latin typeface="Calibri"/>
              <a:ea typeface="Calibri"/>
              <a:cs typeface="Calibri"/>
              <a:sym typeface="Calibri"/>
            </a:endParaRPr>
          </a:p>
        </p:txBody>
      </p:sp>
      <p:sp>
        <p:nvSpPr>
          <p:cNvPr id="89" name="Google Shape;89;p7"/>
          <p:cNvSpPr txBox="1"/>
          <p:nvPr/>
        </p:nvSpPr>
        <p:spPr>
          <a:xfrm>
            <a:off x="1744250" y="939450"/>
            <a:ext cx="7882800" cy="362400"/>
          </a:xfrm>
          <a:prstGeom prst="rect">
            <a:avLst/>
          </a:prstGeom>
          <a:solidFill>
            <a:schemeClr val="dk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lt1"/>
                </a:solidFill>
              </a:rPr>
              <a:t>VIIRS observed flaring intensity → Flared gas volume → Total gas </a:t>
            </a:r>
            <a:r>
              <a:rPr lang="en-US">
                <a:solidFill>
                  <a:schemeClr val="lt1"/>
                </a:solidFill>
              </a:rPr>
              <a:t>volume</a:t>
            </a:r>
            <a:r>
              <a:rPr lang="en-US">
                <a:solidFill>
                  <a:schemeClr val="lt1"/>
                </a:solidFill>
              </a:rPr>
              <a:t> → Total oil produced</a:t>
            </a:r>
            <a:endParaRPr>
              <a:solidFill>
                <a:schemeClr val="lt1"/>
              </a:solidFill>
            </a:endParaRPr>
          </a:p>
        </p:txBody>
      </p:sp>
      <p:pic>
        <p:nvPicPr>
          <p:cNvPr id="90" name="Google Shape;90;p7"/>
          <p:cNvPicPr preferRelativeResize="0"/>
          <p:nvPr/>
        </p:nvPicPr>
        <p:blipFill>
          <a:blip r:embed="rId4">
            <a:alphaModFix/>
          </a:blip>
          <a:stretch>
            <a:fillRect/>
          </a:stretch>
        </p:blipFill>
        <p:spPr>
          <a:xfrm>
            <a:off x="6236775" y="4309775"/>
            <a:ext cx="5654000" cy="2078500"/>
          </a:xfrm>
          <a:prstGeom prst="rect">
            <a:avLst/>
          </a:prstGeom>
          <a:noFill/>
          <a:ln>
            <a:noFill/>
          </a:ln>
        </p:spPr>
      </p:pic>
      <p:pic>
        <p:nvPicPr>
          <p:cNvPr id="91" name="Google Shape;91;p7"/>
          <p:cNvPicPr preferRelativeResize="0"/>
          <p:nvPr/>
        </p:nvPicPr>
        <p:blipFill>
          <a:blip r:embed="rId5">
            <a:alphaModFix/>
          </a:blip>
          <a:stretch>
            <a:fillRect/>
          </a:stretch>
        </p:blipFill>
        <p:spPr>
          <a:xfrm>
            <a:off x="6236775" y="1657100"/>
            <a:ext cx="5654001" cy="2149864"/>
          </a:xfrm>
          <a:prstGeom prst="rect">
            <a:avLst/>
          </a:prstGeom>
          <a:noFill/>
          <a:ln>
            <a:noFill/>
          </a:ln>
        </p:spPr>
      </p:pic>
      <p:pic>
        <p:nvPicPr>
          <p:cNvPr id="92" name="Google Shape;92;p7"/>
          <p:cNvPicPr preferRelativeResize="0"/>
          <p:nvPr/>
        </p:nvPicPr>
        <p:blipFill>
          <a:blip r:embed="rId6">
            <a:alphaModFix/>
          </a:blip>
          <a:stretch>
            <a:fillRect/>
          </a:stretch>
        </p:blipFill>
        <p:spPr>
          <a:xfrm>
            <a:off x="236900" y="3398235"/>
            <a:ext cx="5654000" cy="2853078"/>
          </a:xfrm>
          <a:prstGeom prst="rect">
            <a:avLst/>
          </a:prstGeom>
          <a:noFill/>
          <a:ln>
            <a:noFill/>
          </a:ln>
        </p:spPr>
      </p:pic>
      <p:pic>
        <p:nvPicPr>
          <p:cNvPr id="93" name="Google Shape;93;p7"/>
          <p:cNvPicPr preferRelativeResize="0"/>
          <p:nvPr/>
        </p:nvPicPr>
        <p:blipFill>
          <a:blip r:embed="rId7">
            <a:alphaModFix/>
          </a:blip>
          <a:stretch>
            <a:fillRect/>
          </a:stretch>
        </p:blipFill>
        <p:spPr>
          <a:xfrm>
            <a:off x="1708000" y="2018450"/>
            <a:ext cx="2711800" cy="824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 name="Shape 98"/>
        <p:cNvGrpSpPr/>
        <p:nvPr/>
      </p:nvGrpSpPr>
      <p:grpSpPr>
        <a:xfrm>
          <a:off x="0" y="0"/>
          <a:ext cx="0" cy="0"/>
          <a:chOff x="0" y="0"/>
          <a:chExt cx="0" cy="0"/>
        </a:xfrm>
      </p:grpSpPr>
      <p:sp>
        <p:nvSpPr>
          <p:cNvPr id="99" name="Google Shape;99;p8"/>
          <p:cNvSpPr/>
          <p:nvPr/>
        </p:nvSpPr>
        <p:spPr>
          <a:xfrm>
            <a:off x="10972800" y="320040"/>
            <a:ext cx="91440" cy="91440"/>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p:nvPr/>
        </p:nvSpPr>
        <p:spPr>
          <a:xfrm>
            <a:off x="11201400" y="411480"/>
            <a:ext cx="54864" cy="54864"/>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8"/>
          <p:cNvSpPr/>
          <p:nvPr/>
        </p:nvSpPr>
        <p:spPr>
          <a:xfrm>
            <a:off x="11082528" y="521208"/>
            <a:ext cx="73152" cy="73152"/>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8"/>
          <p:cNvSpPr/>
          <p:nvPr/>
        </p:nvSpPr>
        <p:spPr>
          <a:xfrm>
            <a:off x="11338560" y="365760"/>
            <a:ext cx="45720" cy="45720"/>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8"/>
          <p:cNvSpPr/>
          <p:nvPr/>
        </p:nvSpPr>
        <p:spPr>
          <a:xfrm>
            <a:off x="11247120" y="594360"/>
            <a:ext cx="54864" cy="54864"/>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8"/>
          <p:cNvSpPr/>
          <p:nvPr/>
        </p:nvSpPr>
        <p:spPr>
          <a:xfrm>
            <a:off x="11475720" y="484632"/>
            <a:ext cx="82296" cy="82296"/>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
          <p:cNvSpPr/>
          <p:nvPr/>
        </p:nvSpPr>
        <p:spPr>
          <a:xfrm>
            <a:off x="11045952" y="667512"/>
            <a:ext cx="45720" cy="45720"/>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p:cNvSpPr/>
          <p:nvPr/>
        </p:nvSpPr>
        <p:spPr>
          <a:xfrm>
            <a:off x="11411712" y="640080"/>
            <a:ext cx="54864" cy="54864"/>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8"/>
          <p:cNvSpPr/>
          <p:nvPr/>
        </p:nvSpPr>
        <p:spPr>
          <a:xfrm>
            <a:off x="11539728" y="338328"/>
            <a:ext cx="45720" cy="45720"/>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8"/>
          <p:cNvSpPr/>
          <p:nvPr/>
        </p:nvSpPr>
        <p:spPr>
          <a:xfrm>
            <a:off x="11155680" y="731520"/>
            <a:ext cx="36576" cy="36576"/>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p:nvPr/>
        </p:nvSpPr>
        <p:spPr>
          <a:xfrm>
            <a:off x="548640" y="91440"/>
            <a:ext cx="73152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4D399"/>
              </a:buClr>
              <a:buSzPts val="1300"/>
              <a:buFont typeface="Calibri"/>
              <a:buNone/>
            </a:pPr>
            <a:r>
              <a:rPr b="1" i="0" lang="en-US" sz="1300" u="none" cap="none" strike="noStrike">
                <a:solidFill>
                  <a:srgbClr val="34D399"/>
                </a:solidFill>
                <a:latin typeface="Calibri"/>
                <a:ea typeface="Calibri"/>
                <a:cs typeface="Calibri"/>
                <a:sym typeface="Calibri"/>
              </a:rPr>
              <a:t>PREDICTING OIL PRODUCTION</a:t>
            </a:r>
            <a:endParaRPr b="0" i="0" sz="1300" u="none" cap="none" strike="noStrike">
              <a:solidFill>
                <a:schemeClr val="dk1"/>
              </a:solidFill>
              <a:latin typeface="Calibri"/>
              <a:ea typeface="Calibri"/>
              <a:cs typeface="Calibri"/>
              <a:sym typeface="Calibri"/>
            </a:endParaRPr>
          </a:p>
        </p:txBody>
      </p:sp>
      <p:sp>
        <p:nvSpPr>
          <p:cNvPr id="110" name="Google Shape;110;p8"/>
          <p:cNvSpPr/>
          <p:nvPr/>
        </p:nvSpPr>
        <p:spPr>
          <a:xfrm>
            <a:off x="548640" y="371253"/>
            <a:ext cx="10515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FBF7"/>
              </a:buClr>
              <a:buSzPts val="3000"/>
              <a:buFont typeface="Cambria"/>
              <a:buNone/>
            </a:pPr>
            <a:r>
              <a:rPr b="1" i="0" lang="en-US" sz="3000" u="none" cap="none" strike="noStrike">
                <a:solidFill>
                  <a:srgbClr val="F2FBF7"/>
                </a:solidFill>
                <a:latin typeface="Cambria"/>
                <a:ea typeface="Cambria"/>
                <a:cs typeface="Cambria"/>
                <a:sym typeface="Cambria"/>
              </a:rPr>
              <a:t>Can Satellite Data </a:t>
            </a:r>
            <a:r>
              <a:rPr b="1" lang="en-US" sz="3000">
                <a:solidFill>
                  <a:srgbClr val="F2FBF7"/>
                </a:solidFill>
                <a:latin typeface="Cambria"/>
                <a:ea typeface="Cambria"/>
                <a:cs typeface="Cambria"/>
                <a:sym typeface="Cambria"/>
              </a:rPr>
              <a:t>Fore</a:t>
            </a:r>
            <a:r>
              <a:rPr b="1" i="0" lang="en-US" sz="3000" u="none" cap="none" strike="noStrike">
                <a:solidFill>
                  <a:srgbClr val="F2FBF7"/>
                </a:solidFill>
                <a:latin typeface="Cambria"/>
                <a:ea typeface="Cambria"/>
                <a:cs typeface="Cambria"/>
                <a:sym typeface="Cambria"/>
              </a:rPr>
              <a:t>cast Oil in Real Time</a:t>
            </a:r>
            <a:endParaRPr b="0" i="0" sz="3000" u="none" cap="none" strike="noStrike">
              <a:solidFill>
                <a:schemeClr val="dk1"/>
              </a:solidFill>
              <a:latin typeface="Calibri"/>
              <a:ea typeface="Calibri"/>
              <a:cs typeface="Calibri"/>
              <a:sym typeface="Calibri"/>
            </a:endParaRPr>
          </a:p>
        </p:txBody>
      </p:sp>
      <p:sp>
        <p:nvSpPr>
          <p:cNvPr id="111" name="Google Shape;111;p8"/>
          <p:cNvSpPr/>
          <p:nvPr/>
        </p:nvSpPr>
        <p:spPr>
          <a:xfrm>
            <a:off x="548690" y="1249248"/>
            <a:ext cx="146400" cy="146400"/>
          </a:xfrm>
          <a:prstGeom prst="ellipse">
            <a:avLst/>
          </a:prstGeom>
          <a:solidFill>
            <a:srgbClr val="6EE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8"/>
          <p:cNvSpPr/>
          <p:nvPr/>
        </p:nvSpPr>
        <p:spPr>
          <a:xfrm>
            <a:off x="859486" y="1011452"/>
            <a:ext cx="4718400" cy="621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FBF7"/>
              </a:buClr>
              <a:buSzPts val="1300"/>
              <a:buFont typeface="Calibri"/>
              <a:buNone/>
            </a:pPr>
            <a:r>
              <a:rPr b="0" i="0" lang="en-US" sz="1300" u="none" cap="none" strike="noStrike">
                <a:solidFill>
                  <a:srgbClr val="F2FBF7"/>
                </a:solidFill>
                <a:latin typeface="Calibri"/>
                <a:ea typeface="Calibri"/>
                <a:cs typeface="Calibri"/>
                <a:sym typeface="Calibri"/>
              </a:rPr>
              <a:t>Oil's own history is a strong baseline. Everything else has to beat it.</a:t>
            </a:r>
            <a:endParaRPr b="0" i="0" sz="1300" u="none" cap="none" strike="noStrike">
              <a:solidFill>
                <a:schemeClr val="dk1"/>
              </a:solidFill>
              <a:latin typeface="Calibri"/>
              <a:ea typeface="Calibri"/>
              <a:cs typeface="Calibri"/>
              <a:sym typeface="Calibri"/>
            </a:endParaRPr>
          </a:p>
        </p:txBody>
      </p:sp>
      <p:sp>
        <p:nvSpPr>
          <p:cNvPr id="113" name="Google Shape;113;p8"/>
          <p:cNvSpPr/>
          <p:nvPr/>
        </p:nvSpPr>
        <p:spPr>
          <a:xfrm>
            <a:off x="548615" y="1809577"/>
            <a:ext cx="146400" cy="146400"/>
          </a:xfrm>
          <a:prstGeom prst="ellipse">
            <a:avLst/>
          </a:prstGeom>
          <a:solidFill>
            <a:srgbClr val="6EE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8"/>
          <p:cNvSpPr/>
          <p:nvPr/>
        </p:nvSpPr>
        <p:spPr>
          <a:xfrm>
            <a:off x="859561" y="1655069"/>
            <a:ext cx="4718400" cy="621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FBF7"/>
              </a:buClr>
              <a:buSzPts val="1300"/>
              <a:buFont typeface="Calibri"/>
              <a:buNone/>
            </a:pPr>
            <a:r>
              <a:rPr b="0" i="0" lang="en-US" sz="1300" u="none" cap="none" strike="noStrike">
                <a:solidFill>
                  <a:srgbClr val="F2FBF7"/>
                </a:solidFill>
                <a:latin typeface="Calibri"/>
                <a:ea typeface="Calibri"/>
                <a:cs typeface="Calibri"/>
                <a:sym typeface="Calibri"/>
              </a:rPr>
              <a:t>Gas transmission predicts oil well, about 18% better, but shares oil's own reporting lag.</a:t>
            </a:r>
            <a:endParaRPr b="0" i="0" sz="1300" u="none" cap="none" strike="noStrike">
              <a:solidFill>
                <a:schemeClr val="dk1"/>
              </a:solidFill>
              <a:latin typeface="Calibri"/>
              <a:ea typeface="Calibri"/>
              <a:cs typeface="Calibri"/>
              <a:sym typeface="Calibri"/>
            </a:endParaRPr>
          </a:p>
        </p:txBody>
      </p:sp>
      <p:sp>
        <p:nvSpPr>
          <p:cNvPr id="115" name="Google Shape;115;p8"/>
          <p:cNvSpPr/>
          <p:nvPr/>
        </p:nvSpPr>
        <p:spPr>
          <a:xfrm>
            <a:off x="548578" y="2512869"/>
            <a:ext cx="146400" cy="146400"/>
          </a:xfrm>
          <a:prstGeom prst="ellipse">
            <a:avLst/>
          </a:prstGeom>
          <a:solidFill>
            <a:srgbClr val="6EE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a:off x="859599" y="2352061"/>
            <a:ext cx="4718400" cy="621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FBF7"/>
              </a:buClr>
              <a:buSzPts val="1300"/>
              <a:buFont typeface="Calibri"/>
              <a:buNone/>
            </a:pPr>
            <a:r>
              <a:rPr b="0" i="0" lang="en-US" sz="1300" u="none" cap="none" strike="noStrike">
                <a:solidFill>
                  <a:srgbClr val="F2FBF7"/>
                </a:solidFill>
                <a:latin typeface="Calibri"/>
                <a:ea typeface="Calibri"/>
                <a:cs typeface="Calibri"/>
                <a:sym typeface="Calibri"/>
              </a:rPr>
              <a:t>VIIRS, the only real time signal, gives</a:t>
            </a:r>
            <a:endParaRPr sz="1300">
              <a:solidFill>
                <a:srgbClr val="F2FBF7"/>
              </a:solidFill>
              <a:latin typeface="Calibri"/>
              <a:ea typeface="Calibri"/>
              <a:cs typeface="Calibri"/>
              <a:sym typeface="Calibri"/>
            </a:endParaRPr>
          </a:p>
          <a:p>
            <a:pPr indent="0" lvl="0" marL="0" marR="0" rtl="0" algn="l">
              <a:spcBef>
                <a:spcPts val="0"/>
              </a:spcBef>
              <a:spcAft>
                <a:spcPts val="0"/>
              </a:spcAft>
              <a:buClr>
                <a:srgbClr val="F2FBF7"/>
              </a:buClr>
              <a:buSzPts val="1300"/>
              <a:buFont typeface="Calibri"/>
              <a:buNone/>
            </a:pPr>
            <a:r>
              <a:rPr lang="en-US" sz="1300">
                <a:solidFill>
                  <a:srgbClr val="F2FBF7"/>
                </a:solidFill>
                <a:latin typeface="Calibri"/>
                <a:ea typeface="Calibri"/>
                <a:cs typeface="Calibri"/>
                <a:sym typeface="Calibri"/>
              </a:rPr>
              <a:t> almost no improvement in any </a:t>
            </a:r>
            <a:r>
              <a:rPr b="0" i="0" lang="en-US" sz="1300" u="none" cap="none" strike="noStrike">
                <a:solidFill>
                  <a:srgbClr val="F2FBF7"/>
                </a:solidFill>
                <a:latin typeface="Calibri"/>
                <a:ea typeface="Calibri"/>
                <a:cs typeface="Calibri"/>
                <a:sym typeface="Calibri"/>
              </a:rPr>
              <a:t>test.</a:t>
            </a:r>
            <a:endParaRPr b="0" i="0" sz="1300" u="none" cap="none" strike="noStrike">
              <a:solidFill>
                <a:schemeClr val="dk1"/>
              </a:solidFill>
              <a:latin typeface="Calibri"/>
              <a:ea typeface="Calibri"/>
              <a:cs typeface="Calibri"/>
              <a:sym typeface="Calibri"/>
            </a:endParaRPr>
          </a:p>
        </p:txBody>
      </p:sp>
      <p:sp>
        <p:nvSpPr>
          <p:cNvPr id="117" name="Google Shape;117;p8"/>
          <p:cNvSpPr/>
          <p:nvPr/>
        </p:nvSpPr>
        <p:spPr>
          <a:xfrm>
            <a:off x="548640" y="3241636"/>
            <a:ext cx="146400" cy="146400"/>
          </a:xfrm>
          <a:prstGeom prst="ellipse">
            <a:avLst/>
          </a:prstGeom>
          <a:solidFill>
            <a:srgbClr val="6EE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8"/>
          <p:cNvSpPr/>
          <p:nvPr/>
        </p:nvSpPr>
        <p:spPr>
          <a:xfrm>
            <a:off x="859599" y="3075753"/>
            <a:ext cx="4718400" cy="621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FBF7"/>
              </a:buClr>
              <a:buSzPts val="1300"/>
              <a:buFont typeface="Calibri"/>
              <a:buNone/>
            </a:pPr>
            <a:r>
              <a:rPr b="0" i="0" lang="en-US" sz="1300" u="none" cap="none" strike="noStrike">
                <a:solidFill>
                  <a:srgbClr val="F2FBF7"/>
                </a:solidFill>
                <a:latin typeface="Calibri"/>
                <a:ea typeface="Calibri"/>
                <a:cs typeface="Calibri"/>
                <a:sym typeface="Calibri"/>
              </a:rPr>
              <a:t>The gas to oil relationship is a loop, not a  line, tracing each well's rise and decline.</a:t>
            </a:r>
            <a:endParaRPr b="0" i="0" sz="1300" u="none" cap="none" strike="noStrike">
              <a:solidFill>
                <a:schemeClr val="dk1"/>
              </a:solidFill>
              <a:latin typeface="Calibri"/>
              <a:ea typeface="Calibri"/>
              <a:cs typeface="Calibri"/>
              <a:sym typeface="Calibri"/>
            </a:endParaRPr>
          </a:p>
        </p:txBody>
      </p:sp>
      <p:sp>
        <p:nvSpPr>
          <p:cNvPr id="119" name="Google Shape;119;p8"/>
          <p:cNvSpPr/>
          <p:nvPr/>
        </p:nvSpPr>
        <p:spPr>
          <a:xfrm>
            <a:off x="548640" y="3787028"/>
            <a:ext cx="146400" cy="146400"/>
          </a:xfrm>
          <a:prstGeom prst="ellipse">
            <a:avLst/>
          </a:prstGeom>
          <a:solidFill>
            <a:srgbClr val="6EE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a:off x="859599" y="3642445"/>
            <a:ext cx="4718400" cy="621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FBF7"/>
              </a:buClr>
              <a:buSzPts val="1300"/>
              <a:buFont typeface="Calibri"/>
              <a:buNone/>
            </a:pPr>
            <a:r>
              <a:rPr b="0" i="0" lang="en-US" sz="1300" u="none" cap="none" strike="noStrike">
                <a:solidFill>
                  <a:srgbClr val="F2FBF7"/>
                </a:solidFill>
                <a:latin typeface="Calibri"/>
                <a:ea typeface="Calibri"/>
                <a:cs typeface="Calibri"/>
                <a:sym typeface="Calibri"/>
              </a:rPr>
              <a:t>Flaring decouples from transmission during pipeline bottlenecks, a real mechanism finding.</a:t>
            </a:r>
            <a:endParaRPr b="0" i="0" sz="1300" u="none" cap="none" strike="noStrike">
              <a:solidFill>
                <a:schemeClr val="dk1"/>
              </a:solidFill>
              <a:latin typeface="Calibri"/>
              <a:ea typeface="Calibri"/>
              <a:cs typeface="Calibri"/>
              <a:sym typeface="Calibri"/>
            </a:endParaRPr>
          </a:p>
        </p:txBody>
      </p:sp>
      <p:graphicFrame>
        <p:nvGraphicFramePr>
          <p:cNvPr id="121" name="Google Shape;121;p8"/>
          <p:cNvGraphicFramePr/>
          <p:nvPr/>
        </p:nvGraphicFramePr>
        <p:xfrm>
          <a:off x="548640" y="4264380"/>
          <a:ext cx="3000000" cy="3000000"/>
        </p:xfrm>
        <a:graphic>
          <a:graphicData uri="http://schemas.openxmlformats.org/drawingml/2006/table">
            <a:tbl>
              <a:tblPr>
                <a:noFill/>
                <a:tableStyleId>{D1DEA59C-D2C8-4963-9107-99CADC8CCA31}</a:tableStyleId>
              </a:tblPr>
              <a:tblGrid>
                <a:gridCol w="1257300"/>
                <a:gridCol w="1257300"/>
                <a:gridCol w="1257300"/>
                <a:gridCol w="1257300"/>
              </a:tblGrid>
              <a:tr h="361050">
                <a:tc>
                  <a:txBody>
                    <a:bodyPr/>
                    <a:lstStyle/>
                    <a:p>
                      <a:pPr indent="0" lvl="0" marL="0" marR="0" rtl="0" algn="l">
                        <a:spcBef>
                          <a:spcPts val="0"/>
                        </a:spcBef>
                        <a:spcAft>
                          <a:spcPts val="0"/>
                        </a:spcAft>
                        <a:buClr>
                          <a:srgbClr val="6EE7B7"/>
                        </a:buClr>
                        <a:buSzPts val="1200"/>
                        <a:buFont typeface="Calibri"/>
                        <a:buNone/>
                      </a:pPr>
                      <a:r>
                        <a:rPr b="1" lang="en-US" sz="1200" u="none" cap="none" strike="noStrike">
                          <a:solidFill>
                            <a:srgbClr val="6EE7B7"/>
                          </a:solidFill>
                          <a:latin typeface="Calibri"/>
                          <a:ea typeface="Calibri"/>
                          <a:cs typeface="Calibri"/>
                          <a:sym typeface="Calibri"/>
                        </a:rPr>
                        <a:t>Predictor</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c>
                  <a:txBody>
                    <a:bodyPr/>
                    <a:lstStyle/>
                    <a:p>
                      <a:pPr indent="0" lvl="0" marL="0" marR="0" rtl="0" algn="l">
                        <a:spcBef>
                          <a:spcPts val="0"/>
                        </a:spcBef>
                        <a:spcAft>
                          <a:spcPts val="0"/>
                        </a:spcAft>
                        <a:buClr>
                          <a:srgbClr val="6EE7B7"/>
                        </a:buClr>
                        <a:buSzPts val="1200"/>
                        <a:buFont typeface="Calibri"/>
                        <a:buNone/>
                      </a:pPr>
                      <a:r>
                        <a:rPr b="1" lang="en-US" sz="1200" u="none" cap="none" strike="noStrike">
                          <a:solidFill>
                            <a:srgbClr val="6EE7B7"/>
                          </a:solidFill>
                          <a:latin typeface="Calibri"/>
                          <a:ea typeface="Calibri"/>
                          <a:cs typeface="Calibri"/>
                          <a:sym typeface="Calibri"/>
                        </a:rPr>
                        <a:t>Real time</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c>
                  <a:txBody>
                    <a:bodyPr/>
                    <a:lstStyle/>
                    <a:p>
                      <a:pPr indent="0" lvl="0" marL="0" marR="0" rtl="0" algn="l">
                        <a:spcBef>
                          <a:spcPts val="0"/>
                        </a:spcBef>
                        <a:spcAft>
                          <a:spcPts val="0"/>
                        </a:spcAft>
                        <a:buClr>
                          <a:srgbClr val="6EE7B7"/>
                        </a:buClr>
                        <a:buSzPts val="1200"/>
                        <a:buFont typeface="Calibri"/>
                        <a:buNone/>
                      </a:pPr>
                      <a:r>
                        <a:rPr b="1" lang="en-US" sz="1200" u="none" cap="none" strike="noStrike">
                          <a:solidFill>
                            <a:srgbClr val="6EE7B7"/>
                          </a:solidFill>
                          <a:latin typeface="Calibri"/>
                          <a:ea typeface="Calibri"/>
                          <a:cs typeface="Calibri"/>
                          <a:sym typeface="Calibri"/>
                        </a:rPr>
                        <a:t>Full history</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c>
                  <a:txBody>
                    <a:bodyPr/>
                    <a:lstStyle/>
                    <a:p>
                      <a:pPr indent="0" lvl="0" marL="0" marR="0" rtl="0" algn="l">
                        <a:spcBef>
                          <a:spcPts val="0"/>
                        </a:spcBef>
                        <a:spcAft>
                          <a:spcPts val="0"/>
                        </a:spcAft>
                        <a:buClr>
                          <a:srgbClr val="6EE7B7"/>
                        </a:buClr>
                        <a:buSzPts val="1200"/>
                        <a:buFont typeface="Calibri"/>
                        <a:buNone/>
                      </a:pPr>
                      <a:r>
                        <a:rPr b="1" lang="en-US" sz="1200" u="none" cap="none" strike="noStrike">
                          <a:solidFill>
                            <a:srgbClr val="6EE7B7"/>
                          </a:solidFill>
                          <a:latin typeface="Calibri"/>
                          <a:ea typeface="Calibri"/>
                          <a:cs typeface="Calibri"/>
                          <a:sym typeface="Calibri"/>
                        </a:rPr>
                        <a:t>2020 onward</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r>
              <a:tr h="475100">
                <a:tc>
                  <a:txBody>
                    <a:bodyPr/>
                    <a:lstStyle/>
                    <a:p>
                      <a:pPr indent="0" lvl="0" marL="0" marR="0" rtl="0" algn="l">
                        <a:spcBef>
                          <a:spcPts val="0"/>
                        </a:spcBef>
                        <a:spcAft>
                          <a:spcPts val="0"/>
                        </a:spcAft>
                        <a:buClr>
                          <a:srgbClr val="9FB8AC"/>
                        </a:buClr>
                        <a:buSzPts val="1200"/>
                        <a:buFont typeface="Calibri"/>
                        <a:buNone/>
                      </a:pPr>
                      <a:r>
                        <a:rPr lang="en-US" sz="1200" u="none" cap="none" strike="noStrike">
                          <a:solidFill>
                            <a:srgbClr val="9FB8AC"/>
                          </a:solidFill>
                          <a:latin typeface="Calibri"/>
                          <a:ea typeface="Calibri"/>
                          <a:cs typeface="Calibri"/>
                          <a:sym typeface="Calibri"/>
                        </a:rPr>
                        <a:t>VIIRS radiant heat</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c>
                  <a:txBody>
                    <a:bodyPr/>
                    <a:lstStyle/>
                    <a:p>
                      <a:pPr indent="0" lvl="0" marL="0" marR="0" rtl="0" algn="l">
                        <a:spcBef>
                          <a:spcPts val="0"/>
                        </a:spcBef>
                        <a:spcAft>
                          <a:spcPts val="0"/>
                        </a:spcAft>
                        <a:buClr>
                          <a:srgbClr val="9FB8AC"/>
                        </a:buClr>
                        <a:buSzPts val="1200"/>
                        <a:buFont typeface="Calibri"/>
                        <a:buNone/>
                      </a:pPr>
                      <a:r>
                        <a:rPr lang="en-US" sz="1200" u="none" cap="none" strike="noStrike">
                          <a:solidFill>
                            <a:srgbClr val="9FB8AC"/>
                          </a:solidFill>
                          <a:latin typeface="Calibri"/>
                          <a:ea typeface="Calibri"/>
                          <a:cs typeface="Calibri"/>
                          <a:sym typeface="Calibri"/>
                        </a:rPr>
                        <a:t>Yes</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c>
                  <a:txBody>
                    <a:bodyPr/>
                    <a:lstStyle/>
                    <a:p>
                      <a:pPr indent="0" lvl="0" marL="0" marR="0" rtl="0" algn="l">
                        <a:spcBef>
                          <a:spcPts val="0"/>
                        </a:spcBef>
                        <a:spcAft>
                          <a:spcPts val="0"/>
                        </a:spcAft>
                        <a:buClr>
                          <a:srgbClr val="9FB8AC"/>
                        </a:buClr>
                        <a:buSzPts val="1200"/>
                        <a:buFont typeface="Calibri"/>
                        <a:buNone/>
                      </a:pPr>
                      <a:r>
                        <a:rPr lang="en-US" sz="1200" u="none" cap="none" strike="noStrike">
                          <a:solidFill>
                            <a:srgbClr val="9FB8AC"/>
                          </a:solidFill>
                          <a:latin typeface="Calibri"/>
                          <a:ea typeface="Calibri"/>
                          <a:cs typeface="Calibri"/>
                          <a:sym typeface="Calibri"/>
                        </a:rPr>
                        <a:t>+2%</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c>
                  <a:txBody>
                    <a:bodyPr/>
                    <a:lstStyle/>
                    <a:p>
                      <a:pPr indent="0" lvl="0" marL="0" marR="0" rtl="0" algn="l">
                        <a:spcBef>
                          <a:spcPts val="0"/>
                        </a:spcBef>
                        <a:spcAft>
                          <a:spcPts val="0"/>
                        </a:spcAft>
                        <a:buClr>
                          <a:srgbClr val="9FB8AC"/>
                        </a:buClr>
                        <a:buSzPts val="1200"/>
                        <a:buFont typeface="Calibri"/>
                        <a:buNone/>
                      </a:pPr>
                      <a:r>
                        <a:rPr lang="en-US" sz="1200" u="none" cap="none" strike="noStrike">
                          <a:solidFill>
                            <a:srgbClr val="9FB8AC"/>
                          </a:solidFill>
                          <a:latin typeface="Calibri"/>
                          <a:ea typeface="Calibri"/>
                          <a:cs typeface="Calibri"/>
                          <a:sym typeface="Calibri"/>
                        </a:rPr>
                        <a:t>+3%</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r>
              <a:tr h="463775">
                <a:tc>
                  <a:txBody>
                    <a:bodyPr/>
                    <a:lstStyle/>
                    <a:p>
                      <a:pPr indent="0" lvl="0" marL="0" marR="0" rtl="0" algn="l">
                        <a:spcBef>
                          <a:spcPts val="0"/>
                        </a:spcBef>
                        <a:spcAft>
                          <a:spcPts val="0"/>
                        </a:spcAft>
                        <a:buClr>
                          <a:srgbClr val="9FB8AC"/>
                        </a:buClr>
                        <a:buSzPts val="1200"/>
                        <a:buFont typeface="Calibri"/>
                        <a:buNone/>
                      </a:pPr>
                      <a:r>
                        <a:rPr lang="en-US" sz="1200" u="none" cap="none" strike="noStrike">
                          <a:solidFill>
                            <a:srgbClr val="9FB8AC"/>
                          </a:solidFill>
                          <a:latin typeface="Calibri"/>
                          <a:ea typeface="Calibri"/>
                          <a:cs typeface="Calibri"/>
                          <a:sym typeface="Calibri"/>
                        </a:rPr>
                        <a:t>Pipeline proxy</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c>
                  <a:txBody>
                    <a:bodyPr/>
                    <a:lstStyle/>
                    <a:p>
                      <a:pPr indent="0" lvl="0" marL="0" marR="0" rtl="0" algn="l">
                        <a:spcBef>
                          <a:spcPts val="0"/>
                        </a:spcBef>
                        <a:spcAft>
                          <a:spcPts val="0"/>
                        </a:spcAft>
                        <a:buClr>
                          <a:srgbClr val="9FB8AC"/>
                        </a:buClr>
                        <a:buSzPts val="1200"/>
                        <a:buFont typeface="Calibri"/>
                        <a:buNone/>
                      </a:pPr>
                      <a:r>
                        <a:rPr lang="en-US" sz="1200" u="none" cap="none" strike="noStrike">
                          <a:solidFill>
                            <a:srgbClr val="9FB8AC"/>
                          </a:solidFill>
                          <a:latin typeface="Calibri"/>
                          <a:ea typeface="Calibri"/>
                          <a:cs typeface="Calibri"/>
                          <a:sym typeface="Calibri"/>
                        </a:rPr>
                        <a:t>Yes</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c>
                  <a:txBody>
                    <a:bodyPr/>
                    <a:lstStyle/>
                    <a:p>
                      <a:pPr indent="0" lvl="0" marL="0" marR="0" rtl="0" algn="l">
                        <a:spcBef>
                          <a:spcPts val="0"/>
                        </a:spcBef>
                        <a:spcAft>
                          <a:spcPts val="0"/>
                        </a:spcAft>
                        <a:buClr>
                          <a:srgbClr val="9FB8AC"/>
                        </a:buClr>
                        <a:buSzPts val="1200"/>
                        <a:buFont typeface="Calibri"/>
                        <a:buNone/>
                      </a:pPr>
                      <a:r>
                        <a:rPr lang="en-US" sz="1200" u="none" cap="none" strike="noStrike">
                          <a:solidFill>
                            <a:srgbClr val="9FB8AC"/>
                          </a:solidFill>
                          <a:latin typeface="Calibri"/>
                          <a:ea typeface="Calibri"/>
                          <a:cs typeface="Calibri"/>
                          <a:sym typeface="Calibri"/>
                        </a:rPr>
                        <a:t>about 6% worse</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c>
                  <a:txBody>
                    <a:bodyPr/>
                    <a:lstStyle/>
                    <a:p>
                      <a:pPr indent="0" lvl="0" marL="0" marR="0" rtl="0" algn="l">
                        <a:spcBef>
                          <a:spcPts val="0"/>
                        </a:spcBef>
                        <a:spcAft>
                          <a:spcPts val="0"/>
                        </a:spcAft>
                        <a:buClr>
                          <a:srgbClr val="9FB8AC"/>
                        </a:buClr>
                        <a:buSzPts val="1200"/>
                        <a:buFont typeface="Calibri"/>
                        <a:buNone/>
                      </a:pPr>
                      <a:r>
                        <a:rPr lang="en-US" sz="1200" u="none" cap="none" strike="noStrike">
                          <a:solidFill>
                            <a:srgbClr val="9FB8AC"/>
                          </a:solidFill>
                          <a:latin typeface="Calibri"/>
                          <a:ea typeface="Calibri"/>
                          <a:cs typeface="Calibri"/>
                          <a:sym typeface="Calibri"/>
                        </a:rPr>
                        <a:t>about 14% worse</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r>
              <a:tr h="475100">
                <a:tc>
                  <a:txBody>
                    <a:bodyPr/>
                    <a:lstStyle/>
                    <a:p>
                      <a:pPr indent="0" lvl="0" marL="0" marR="0" rtl="0" algn="l">
                        <a:spcBef>
                          <a:spcPts val="0"/>
                        </a:spcBef>
                        <a:spcAft>
                          <a:spcPts val="0"/>
                        </a:spcAft>
                        <a:buClr>
                          <a:srgbClr val="9FB8AC"/>
                        </a:buClr>
                        <a:buSzPts val="1200"/>
                        <a:buFont typeface="Calibri"/>
                        <a:buNone/>
                      </a:pPr>
                      <a:r>
                        <a:rPr lang="en-US" sz="1200" u="none" cap="none" strike="noStrike">
                          <a:solidFill>
                            <a:srgbClr val="9FB8AC"/>
                          </a:solidFill>
                          <a:latin typeface="Calibri"/>
                          <a:ea typeface="Calibri"/>
                          <a:cs typeface="Calibri"/>
                          <a:sym typeface="Calibri"/>
                        </a:rPr>
                        <a:t>Gas transmission (not real time)</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c>
                  <a:txBody>
                    <a:bodyPr/>
                    <a:lstStyle/>
                    <a:p>
                      <a:pPr indent="0" lvl="0" marL="0" marR="0" rtl="0" algn="l">
                        <a:spcBef>
                          <a:spcPts val="0"/>
                        </a:spcBef>
                        <a:spcAft>
                          <a:spcPts val="0"/>
                        </a:spcAft>
                        <a:buClr>
                          <a:srgbClr val="9FB8AC"/>
                        </a:buClr>
                        <a:buSzPts val="1200"/>
                        <a:buFont typeface="Calibri"/>
                        <a:buNone/>
                      </a:pPr>
                      <a:r>
                        <a:rPr lang="en-US" sz="1200" u="none" cap="none" strike="noStrike">
                          <a:solidFill>
                            <a:srgbClr val="9FB8AC"/>
                          </a:solidFill>
                          <a:latin typeface="Calibri"/>
                          <a:ea typeface="Calibri"/>
                          <a:cs typeface="Calibri"/>
                          <a:sym typeface="Calibri"/>
                        </a:rPr>
                        <a:t>No</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c>
                  <a:txBody>
                    <a:bodyPr/>
                    <a:lstStyle/>
                    <a:p>
                      <a:pPr indent="0" lvl="0" marL="0" marR="0" rtl="0" algn="l">
                        <a:spcBef>
                          <a:spcPts val="0"/>
                        </a:spcBef>
                        <a:spcAft>
                          <a:spcPts val="0"/>
                        </a:spcAft>
                        <a:buClr>
                          <a:srgbClr val="9FB8AC"/>
                        </a:buClr>
                        <a:buSzPts val="1200"/>
                        <a:buFont typeface="Calibri"/>
                        <a:buNone/>
                      </a:pPr>
                      <a:r>
                        <a:rPr lang="en-US" sz="1200" u="none" cap="none" strike="noStrike">
                          <a:solidFill>
                            <a:srgbClr val="9FB8AC"/>
                          </a:solidFill>
                          <a:latin typeface="Calibri"/>
                          <a:ea typeface="Calibri"/>
                          <a:cs typeface="Calibri"/>
                          <a:sym typeface="Calibri"/>
                        </a:rPr>
                        <a:t>+18%</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c>
                  <a:txBody>
                    <a:bodyPr/>
                    <a:lstStyle/>
                    <a:p>
                      <a:pPr indent="0" lvl="0" marL="0" marR="0" rtl="0" algn="l">
                        <a:spcBef>
                          <a:spcPts val="0"/>
                        </a:spcBef>
                        <a:spcAft>
                          <a:spcPts val="0"/>
                        </a:spcAft>
                        <a:buClr>
                          <a:srgbClr val="9FB8AC"/>
                        </a:buClr>
                        <a:buSzPts val="1200"/>
                        <a:buFont typeface="Calibri"/>
                        <a:buNone/>
                      </a:pPr>
                      <a:r>
                        <a:rPr lang="en-US" sz="1200" u="none" cap="none" strike="noStrike">
                          <a:solidFill>
                            <a:srgbClr val="9FB8AC"/>
                          </a:solidFill>
                          <a:latin typeface="Calibri"/>
                          <a:ea typeface="Calibri"/>
                          <a:cs typeface="Calibri"/>
                          <a:sym typeface="Calibri"/>
                        </a:rPr>
                        <a:t>+22%</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r>
              <a:tr h="665100">
                <a:tc>
                  <a:txBody>
                    <a:bodyPr/>
                    <a:lstStyle/>
                    <a:p>
                      <a:pPr indent="0" lvl="0" marL="0" marR="0" rtl="0" algn="l">
                        <a:spcBef>
                          <a:spcPts val="0"/>
                        </a:spcBef>
                        <a:spcAft>
                          <a:spcPts val="0"/>
                        </a:spcAft>
                        <a:buClr>
                          <a:srgbClr val="9FB8AC"/>
                        </a:buClr>
                        <a:buSzPts val="1200"/>
                        <a:buFont typeface="Calibri"/>
                        <a:buNone/>
                      </a:pPr>
                      <a:r>
                        <a:rPr lang="en-US" sz="1200" u="none" cap="none" strike="noStrike">
                          <a:solidFill>
                            <a:srgbClr val="9FB8AC"/>
                          </a:solidFill>
                          <a:latin typeface="Calibri"/>
                          <a:ea typeface="Calibri"/>
                          <a:cs typeface="Calibri"/>
                          <a:sym typeface="Calibri"/>
                        </a:rPr>
                        <a:t>Log and polynomial versions tried</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c>
                  <a:txBody>
                    <a:bodyPr/>
                    <a:lstStyle/>
                    <a:p>
                      <a:pPr indent="0" lvl="0" marL="0" marR="0" rtl="0" algn="l">
                        <a:spcBef>
                          <a:spcPts val="0"/>
                        </a:spcBef>
                        <a:spcAft>
                          <a:spcPts val="0"/>
                        </a:spcAft>
                        <a:buClr>
                          <a:srgbClr val="9FB8AC"/>
                        </a:buClr>
                        <a:buSzPts val="1200"/>
                        <a:buFont typeface="Calibri"/>
                        <a:buNone/>
                      </a:pPr>
                      <a:r>
                        <a:rPr lang="en-US" sz="1200" u="none" cap="none" strike="noStrike">
                          <a:solidFill>
                            <a:srgbClr val="9FB8AC"/>
                          </a:solidFill>
                          <a:latin typeface="Calibri"/>
                          <a:ea typeface="Calibri"/>
                          <a:cs typeface="Calibri"/>
                          <a:sym typeface="Calibri"/>
                        </a:rPr>
                        <a:t>N/A</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c>
                  <a:txBody>
                    <a:bodyPr/>
                    <a:lstStyle/>
                    <a:p>
                      <a:pPr indent="0" lvl="0" marL="0" marR="0" rtl="0" algn="l">
                        <a:spcBef>
                          <a:spcPts val="0"/>
                        </a:spcBef>
                        <a:spcAft>
                          <a:spcPts val="0"/>
                        </a:spcAft>
                        <a:buClr>
                          <a:srgbClr val="9FB8AC"/>
                        </a:buClr>
                        <a:buSzPts val="1200"/>
                        <a:buFont typeface="Calibri"/>
                        <a:buNone/>
                      </a:pPr>
                      <a:r>
                        <a:rPr lang="en-US" sz="1200" u="none" cap="none" strike="noStrike">
                          <a:solidFill>
                            <a:srgbClr val="9FB8AC"/>
                          </a:solidFill>
                          <a:latin typeface="Calibri"/>
                          <a:ea typeface="Calibri"/>
                          <a:cs typeface="Calibri"/>
                          <a:sym typeface="Calibri"/>
                        </a:rPr>
                        <a:t>no real gain</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c>
                  <a:txBody>
                    <a:bodyPr/>
                    <a:lstStyle/>
                    <a:p>
                      <a:pPr indent="0" lvl="0" marL="0" marR="0" rtl="0" algn="l">
                        <a:spcBef>
                          <a:spcPts val="0"/>
                        </a:spcBef>
                        <a:spcAft>
                          <a:spcPts val="0"/>
                        </a:spcAft>
                        <a:buClr>
                          <a:srgbClr val="9FB8AC"/>
                        </a:buClr>
                        <a:buSzPts val="1200"/>
                        <a:buFont typeface="Calibri"/>
                        <a:buNone/>
                      </a:pPr>
                      <a:r>
                        <a:rPr lang="en-US" sz="1200" u="none" cap="none" strike="noStrike">
                          <a:solidFill>
                            <a:srgbClr val="9FB8AC"/>
                          </a:solidFill>
                          <a:latin typeface="Calibri"/>
                          <a:ea typeface="Calibri"/>
                          <a:cs typeface="Calibri"/>
                          <a:sym typeface="Calibri"/>
                        </a:rPr>
                        <a:t>no real gain</a:t>
                      </a:r>
                      <a:endParaRPr sz="1200" u="none" cap="none" strike="noStrike">
                        <a:latin typeface="Calibri"/>
                        <a:ea typeface="Calibri"/>
                        <a:cs typeface="Calibri"/>
                        <a:sym typeface="Calibri"/>
                      </a:endParaRPr>
                    </a:p>
                  </a:txBody>
                  <a:tcPr marT="45725" marB="45725" marR="91450" marL="91450" anchor="ctr">
                    <a:lnL cap="flat" cmpd="sng" w="9525">
                      <a:solidFill>
                        <a:srgbClr val="1F6B4E"/>
                      </a:solidFill>
                      <a:prstDash val="solid"/>
                      <a:round/>
                      <a:headEnd len="sm" w="sm" type="none"/>
                      <a:tailEnd len="sm" w="sm" type="none"/>
                    </a:lnL>
                    <a:lnR cap="flat" cmpd="sng" w="9525">
                      <a:solidFill>
                        <a:srgbClr val="1F6B4E"/>
                      </a:solidFill>
                      <a:prstDash val="solid"/>
                      <a:round/>
                      <a:headEnd len="sm" w="sm" type="none"/>
                      <a:tailEnd len="sm" w="sm" type="none"/>
                    </a:lnR>
                    <a:lnT cap="flat" cmpd="sng" w="9525">
                      <a:solidFill>
                        <a:srgbClr val="1F6B4E"/>
                      </a:solidFill>
                      <a:prstDash val="solid"/>
                      <a:round/>
                      <a:headEnd len="sm" w="sm" type="none"/>
                      <a:tailEnd len="sm" w="sm" type="none"/>
                    </a:lnT>
                    <a:lnB cap="flat" cmpd="sng" w="9525">
                      <a:solidFill>
                        <a:srgbClr val="1F6B4E"/>
                      </a:solidFill>
                      <a:prstDash val="solid"/>
                      <a:round/>
                      <a:headEnd len="sm" w="sm" type="none"/>
                      <a:tailEnd len="sm" w="sm" type="none"/>
                    </a:lnB>
                    <a:solidFill>
                      <a:srgbClr val="111815"/>
                    </a:solidFill>
                  </a:tcPr>
                </a:tc>
              </a:tr>
            </a:tbl>
          </a:graphicData>
        </a:graphic>
      </p:graphicFrame>
      <p:sp>
        <p:nvSpPr>
          <p:cNvPr id="122" name="Google Shape;122;p8"/>
          <p:cNvSpPr/>
          <p:nvPr/>
        </p:nvSpPr>
        <p:spPr>
          <a:xfrm>
            <a:off x="5897880" y="1463040"/>
            <a:ext cx="5760720" cy="5029200"/>
          </a:xfrm>
          <a:prstGeom prst="roundRect">
            <a:avLst>
              <a:gd fmla="val 2182" name="adj"/>
            </a:avLst>
          </a:prstGeom>
          <a:solidFill>
            <a:srgbClr val="1118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p:nvPr/>
        </p:nvSpPr>
        <p:spPr>
          <a:xfrm>
            <a:off x="5897880" y="3611880"/>
            <a:ext cx="576072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FB8AC"/>
              </a:buClr>
              <a:buSzPts val="1500"/>
              <a:buFont typeface="Calibri"/>
              <a:buNone/>
            </a:pPr>
            <a:r>
              <a:rPr b="0" i="1" lang="en-US" sz="1500" u="none" cap="none" strike="noStrike">
                <a:solidFill>
                  <a:srgbClr val="9FB8AC"/>
                </a:solidFill>
                <a:latin typeface="Calibri"/>
                <a:ea typeface="Calibri"/>
                <a:cs typeface="Calibri"/>
                <a:sym typeface="Calibri"/>
              </a:rPr>
              <a:t>[ Add fig4_forecast_comparison.png here: actual vs. baseline, log ARIMA, VIIRS, and gas transmission ]</a:t>
            </a:r>
            <a:endParaRPr b="0" i="0" sz="1500" u="none" cap="none" strike="noStrike">
              <a:solidFill>
                <a:schemeClr val="dk1"/>
              </a:solidFill>
              <a:latin typeface="Calibri"/>
              <a:ea typeface="Calibri"/>
              <a:cs typeface="Calibri"/>
              <a:sym typeface="Calibri"/>
            </a:endParaRPr>
          </a:p>
        </p:txBody>
      </p:sp>
      <p:pic>
        <p:nvPicPr>
          <p:cNvPr id="124" name="Google Shape;124;p8" title="fig4_forecast_comparison.png"/>
          <p:cNvPicPr preferRelativeResize="0"/>
          <p:nvPr/>
        </p:nvPicPr>
        <p:blipFill>
          <a:blip r:embed="rId4">
            <a:alphaModFix/>
          </a:blip>
          <a:stretch>
            <a:fillRect/>
          </a:stretch>
        </p:blipFill>
        <p:spPr>
          <a:xfrm>
            <a:off x="5897875" y="937184"/>
            <a:ext cx="6294124" cy="2304430"/>
          </a:xfrm>
          <a:prstGeom prst="rect">
            <a:avLst/>
          </a:prstGeom>
          <a:solidFill>
            <a:srgbClr val="111815"/>
          </a:solidFill>
          <a:ln>
            <a:noFill/>
          </a:ln>
        </p:spPr>
      </p:pic>
      <p:pic>
        <p:nvPicPr>
          <p:cNvPr id="125" name="Google Shape;125;p8" title="fig3_nonlinear_scatter.png"/>
          <p:cNvPicPr preferRelativeResize="0"/>
          <p:nvPr/>
        </p:nvPicPr>
        <p:blipFill>
          <a:blip r:embed="rId5">
            <a:alphaModFix/>
          </a:blip>
          <a:stretch>
            <a:fillRect/>
          </a:stretch>
        </p:blipFill>
        <p:spPr>
          <a:xfrm>
            <a:off x="5897875" y="3250675"/>
            <a:ext cx="6294123" cy="36073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 name="Shape 130"/>
        <p:cNvGrpSpPr/>
        <p:nvPr/>
      </p:nvGrpSpPr>
      <p:grpSpPr>
        <a:xfrm>
          <a:off x="0" y="0"/>
          <a:ext cx="0" cy="0"/>
          <a:chOff x="0" y="0"/>
          <a:chExt cx="0" cy="0"/>
        </a:xfrm>
      </p:grpSpPr>
      <p:grpSp>
        <p:nvGrpSpPr>
          <p:cNvPr id="131" name="Google Shape;131;p9"/>
          <p:cNvGrpSpPr/>
          <p:nvPr/>
        </p:nvGrpSpPr>
        <p:grpSpPr>
          <a:xfrm>
            <a:off x="11512875" y="6306790"/>
            <a:ext cx="612648" cy="448056"/>
            <a:chOff x="10972800" y="320040"/>
            <a:chExt cx="612648" cy="448056"/>
          </a:xfrm>
        </p:grpSpPr>
        <p:sp>
          <p:nvSpPr>
            <p:cNvPr id="132" name="Google Shape;132;p9"/>
            <p:cNvSpPr/>
            <p:nvPr/>
          </p:nvSpPr>
          <p:spPr>
            <a:xfrm>
              <a:off x="10972800" y="320040"/>
              <a:ext cx="91440" cy="91440"/>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
            <p:cNvSpPr/>
            <p:nvPr/>
          </p:nvSpPr>
          <p:spPr>
            <a:xfrm>
              <a:off x="11201400" y="411480"/>
              <a:ext cx="54864" cy="54864"/>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9"/>
            <p:cNvSpPr/>
            <p:nvPr/>
          </p:nvSpPr>
          <p:spPr>
            <a:xfrm>
              <a:off x="11082528" y="521208"/>
              <a:ext cx="73152" cy="73152"/>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
            <p:cNvSpPr/>
            <p:nvPr/>
          </p:nvSpPr>
          <p:spPr>
            <a:xfrm>
              <a:off x="11338560" y="365760"/>
              <a:ext cx="45720" cy="45720"/>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
            <p:cNvSpPr/>
            <p:nvPr/>
          </p:nvSpPr>
          <p:spPr>
            <a:xfrm>
              <a:off x="11247120" y="594360"/>
              <a:ext cx="54864" cy="54864"/>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9"/>
            <p:cNvSpPr/>
            <p:nvPr/>
          </p:nvSpPr>
          <p:spPr>
            <a:xfrm>
              <a:off x="11475720" y="484632"/>
              <a:ext cx="82296" cy="82296"/>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9"/>
            <p:cNvSpPr/>
            <p:nvPr/>
          </p:nvSpPr>
          <p:spPr>
            <a:xfrm>
              <a:off x="11045952" y="667512"/>
              <a:ext cx="45720" cy="45720"/>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9"/>
            <p:cNvSpPr/>
            <p:nvPr/>
          </p:nvSpPr>
          <p:spPr>
            <a:xfrm>
              <a:off x="11411712" y="640080"/>
              <a:ext cx="54864" cy="54864"/>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
            <p:cNvSpPr/>
            <p:nvPr/>
          </p:nvSpPr>
          <p:spPr>
            <a:xfrm>
              <a:off x="11539728" y="338328"/>
              <a:ext cx="45720" cy="45720"/>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
            <p:cNvSpPr/>
            <p:nvPr/>
          </p:nvSpPr>
          <p:spPr>
            <a:xfrm>
              <a:off x="11155680" y="731520"/>
              <a:ext cx="36576" cy="36576"/>
            </a:xfrm>
            <a:prstGeom prst="ellipse">
              <a:avLst/>
            </a:prstGeom>
            <a:solidFill>
              <a:srgbClr val="6EE7B7">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 name="Google Shape;142;p9"/>
          <p:cNvSpPr/>
          <p:nvPr/>
        </p:nvSpPr>
        <p:spPr>
          <a:xfrm>
            <a:off x="530340" y="54853"/>
            <a:ext cx="10515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FBF7"/>
              </a:buClr>
              <a:buSzPts val="3000"/>
              <a:buFont typeface="Cambria"/>
              <a:buNone/>
            </a:pPr>
            <a:r>
              <a:rPr b="1" lang="en-US" sz="3000">
                <a:solidFill>
                  <a:srgbClr val="F2FBF7"/>
                </a:solidFill>
                <a:latin typeface="Cambria"/>
                <a:ea typeface="Cambria"/>
                <a:cs typeface="Cambria"/>
                <a:sym typeface="Cambria"/>
              </a:rPr>
              <a:t>Flaring Time Series ARIMAX </a:t>
            </a:r>
            <a:r>
              <a:rPr b="1" lang="en-US" sz="3000">
                <a:solidFill>
                  <a:srgbClr val="F2FBF7"/>
                </a:solidFill>
                <a:latin typeface="Cambria"/>
                <a:ea typeface="Cambria"/>
                <a:cs typeface="Cambria"/>
                <a:sym typeface="Cambria"/>
              </a:rPr>
              <a:t>Modeling :</a:t>
            </a:r>
            <a:endParaRPr b="0" i="0" sz="3000" u="none" cap="none" strike="noStrike">
              <a:solidFill>
                <a:schemeClr val="dk1"/>
              </a:solidFill>
              <a:latin typeface="Calibri"/>
              <a:ea typeface="Calibri"/>
              <a:cs typeface="Calibri"/>
              <a:sym typeface="Calibri"/>
            </a:endParaRPr>
          </a:p>
        </p:txBody>
      </p:sp>
      <p:pic>
        <p:nvPicPr>
          <p:cNvPr descr="/home/claude/pptx_build/icon_flame.png" id="143" name="Google Shape;143;p9"/>
          <p:cNvPicPr preferRelativeResize="0"/>
          <p:nvPr/>
        </p:nvPicPr>
        <p:blipFill rotWithShape="1">
          <a:blip r:embed="rId4">
            <a:alphaModFix/>
          </a:blip>
          <a:srcRect b="0" l="0" r="0" t="0"/>
          <a:stretch/>
        </p:blipFill>
        <p:spPr>
          <a:xfrm>
            <a:off x="624078" y="1912781"/>
            <a:ext cx="352044" cy="352044"/>
          </a:xfrm>
          <a:prstGeom prst="rect">
            <a:avLst/>
          </a:prstGeom>
          <a:noFill/>
          <a:ln>
            <a:noFill/>
          </a:ln>
        </p:spPr>
      </p:pic>
      <p:pic>
        <p:nvPicPr>
          <p:cNvPr id="144" name="Google Shape;144;p9"/>
          <p:cNvPicPr preferRelativeResize="0"/>
          <p:nvPr/>
        </p:nvPicPr>
        <p:blipFill>
          <a:blip r:embed="rId5">
            <a:alphaModFix/>
          </a:blip>
          <a:stretch>
            <a:fillRect/>
          </a:stretch>
        </p:blipFill>
        <p:spPr>
          <a:xfrm>
            <a:off x="6011025" y="1092387"/>
            <a:ext cx="5254400" cy="2255200"/>
          </a:xfrm>
          <a:prstGeom prst="rect">
            <a:avLst/>
          </a:prstGeom>
          <a:noFill/>
          <a:ln>
            <a:noFill/>
          </a:ln>
        </p:spPr>
      </p:pic>
      <p:sp>
        <p:nvSpPr>
          <p:cNvPr id="145" name="Google Shape;145;p9"/>
          <p:cNvSpPr txBox="1"/>
          <p:nvPr/>
        </p:nvSpPr>
        <p:spPr>
          <a:xfrm>
            <a:off x="1092950" y="3783200"/>
            <a:ext cx="9741900" cy="2815800"/>
          </a:xfrm>
          <a:prstGeom prst="rect">
            <a:avLst/>
          </a:prstGeom>
          <a:solidFill>
            <a:srgbClr val="000000">
              <a:alpha val="73640"/>
            </a:srgbClr>
          </a:solid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chemeClr val="lt1"/>
              </a:buClr>
              <a:buSzPts val="1200"/>
              <a:buChar char="●"/>
            </a:pPr>
            <a:r>
              <a:rPr b="1" lang="en-US" sz="1200">
                <a:solidFill>
                  <a:schemeClr val="lt1"/>
                </a:solidFill>
              </a:rPr>
              <a:t>Proxy for Flaring:</a:t>
            </a:r>
            <a:r>
              <a:rPr lang="en-US" sz="1200">
                <a:solidFill>
                  <a:schemeClr val="lt1"/>
                </a:solidFill>
              </a:rPr>
              <a:t> VIIRS radiant heat data shows strong historical correlation with official Texas vented/flared gas volumes, serving as a reliable indicator for the flaring volumes.</a:t>
            </a:r>
            <a:endParaRPr sz="1200">
              <a:solidFill>
                <a:schemeClr val="lt1"/>
              </a:solidFill>
            </a:endParaRPr>
          </a:p>
          <a:p>
            <a:pPr indent="-304800" lvl="0" marL="457200" rtl="0" algn="l">
              <a:lnSpc>
                <a:spcPct val="115000"/>
              </a:lnSpc>
              <a:spcBef>
                <a:spcPts val="1000"/>
              </a:spcBef>
              <a:spcAft>
                <a:spcPts val="0"/>
              </a:spcAft>
              <a:buClr>
                <a:schemeClr val="lt1"/>
              </a:buClr>
              <a:buSzPts val="1200"/>
              <a:buChar char="●"/>
            </a:pPr>
            <a:r>
              <a:rPr b="1" lang="en-US" sz="1200">
                <a:solidFill>
                  <a:schemeClr val="lt1"/>
                </a:solidFill>
              </a:rPr>
              <a:t>Goal: </a:t>
            </a:r>
            <a:r>
              <a:rPr lang="en-US" sz="1200">
                <a:solidFill>
                  <a:schemeClr val="lt1"/>
                </a:solidFill>
              </a:rPr>
              <a:t>To find a time series model that captures the maximum amount of information from the historical data, leaving only random white noise as residuals. The optimum model is chosen keeping in mind both simplicity and stability in mind. </a:t>
            </a:r>
            <a:endParaRPr sz="1200">
              <a:solidFill>
                <a:schemeClr val="lt1"/>
              </a:solidFill>
            </a:endParaRPr>
          </a:p>
          <a:p>
            <a:pPr indent="-304800" lvl="0" marL="457200" rtl="0" algn="l">
              <a:lnSpc>
                <a:spcPct val="115000"/>
              </a:lnSpc>
              <a:spcBef>
                <a:spcPts val="1000"/>
              </a:spcBef>
              <a:spcAft>
                <a:spcPts val="0"/>
              </a:spcAft>
              <a:buClr>
                <a:schemeClr val="lt1"/>
              </a:buClr>
              <a:buSzPts val="1200"/>
              <a:buChar char="●"/>
            </a:pPr>
            <a:r>
              <a:rPr b="1" lang="en-US" sz="1200">
                <a:solidFill>
                  <a:schemeClr val="lt1"/>
                </a:solidFill>
              </a:rPr>
              <a:t>Model Performance:</a:t>
            </a:r>
            <a:r>
              <a:rPr lang="en-US" sz="1200">
                <a:solidFill>
                  <a:schemeClr val="lt1"/>
                </a:solidFill>
              </a:rPr>
              <a:t> The non-seasonal ARIMAX(1,1,1) model demonstrates superior performance with the lowest AIC (67.74) and BIC (79.21) scores, indicating that adding a 12-month seasonal term provides no additional explanatory value.</a:t>
            </a:r>
            <a:endParaRPr sz="1200">
              <a:solidFill>
                <a:schemeClr val="lt1"/>
              </a:solidFill>
            </a:endParaRPr>
          </a:p>
          <a:p>
            <a:pPr indent="-304800" lvl="0" marL="457200" rtl="0" algn="l">
              <a:lnSpc>
                <a:spcPct val="115000"/>
              </a:lnSpc>
              <a:spcBef>
                <a:spcPts val="1000"/>
              </a:spcBef>
              <a:spcAft>
                <a:spcPts val="0"/>
              </a:spcAft>
              <a:buClr>
                <a:schemeClr val="lt1"/>
              </a:buClr>
              <a:buSzPts val="1200"/>
              <a:buChar char="●"/>
            </a:pPr>
            <a:r>
              <a:rPr b="1" lang="en-US" sz="1200">
                <a:solidFill>
                  <a:schemeClr val="lt1"/>
                </a:solidFill>
              </a:rPr>
              <a:t>Limitations of Tree Ensembles:</a:t>
            </a:r>
            <a:r>
              <a:rPr lang="en-US" sz="1200">
                <a:solidFill>
                  <a:schemeClr val="lt1"/>
                </a:solidFill>
              </a:rPr>
              <a:t> Unlike parametric ARIMAX models, which scale smoothly along exponential trajectories, XGBoost fails time-series diagnostics (Prob(Q) = 0.00, kurtosis of 6.36) and struggles with extrapolation during extreme volume surges.</a:t>
            </a:r>
            <a:endParaRPr sz="1200">
              <a:solidFill>
                <a:schemeClr val="lt1"/>
              </a:solidFill>
            </a:endParaRPr>
          </a:p>
          <a:p>
            <a:pPr indent="-304800" lvl="0" marL="457200" rtl="0" algn="l">
              <a:lnSpc>
                <a:spcPct val="115000"/>
              </a:lnSpc>
              <a:spcBef>
                <a:spcPts val="1200"/>
              </a:spcBef>
              <a:spcAft>
                <a:spcPts val="0"/>
              </a:spcAft>
              <a:buClr>
                <a:schemeClr val="lt1"/>
              </a:buClr>
              <a:buSzPts val="1200"/>
              <a:buChar char="●"/>
            </a:pPr>
            <a:r>
              <a:rPr b="1" lang="en-US" sz="1200">
                <a:solidFill>
                  <a:schemeClr val="lt1"/>
                </a:solidFill>
              </a:rPr>
              <a:t>Statistical Validity:</a:t>
            </a:r>
            <a:r>
              <a:rPr lang="en-US" sz="1200">
                <a:solidFill>
                  <a:schemeClr val="lt1"/>
                </a:solidFill>
              </a:rPr>
              <a:t> The ARIMAX(1,1,1) model produces white noise residuals (Prob(Q) = 0.81, Prob(JB) = 0.84), confirming stable error variance across both quiet and volatile regimes in the data.</a:t>
            </a:r>
            <a:endParaRPr sz="1200">
              <a:solidFill>
                <a:schemeClr val="lt1"/>
              </a:solidFill>
            </a:endParaRPr>
          </a:p>
          <a:p>
            <a:pPr indent="0" lvl="0" marL="0" rtl="0" algn="l">
              <a:spcBef>
                <a:spcPts val="1000"/>
              </a:spcBef>
              <a:spcAft>
                <a:spcPts val="0"/>
              </a:spcAft>
              <a:buClr>
                <a:schemeClr val="dk1"/>
              </a:buClr>
              <a:buSzPts val="1100"/>
              <a:buFont typeface="Arial"/>
              <a:buNone/>
            </a:pPr>
            <a:r>
              <a:t/>
            </a:r>
            <a:endParaRPr>
              <a:solidFill>
                <a:schemeClr val="lt1"/>
              </a:solidFill>
            </a:endParaRPr>
          </a:p>
          <a:p>
            <a:pPr indent="0" lvl="0" marL="0" rtl="0" algn="l">
              <a:lnSpc>
                <a:spcPct val="115000"/>
              </a:lnSpc>
              <a:spcBef>
                <a:spcPts val="1200"/>
              </a:spcBef>
              <a:spcAft>
                <a:spcPts val="1000"/>
              </a:spcAft>
              <a:buNone/>
            </a:pPr>
            <a:r>
              <a:t/>
            </a:r>
            <a:endParaRPr b="1" sz="1000">
              <a:solidFill>
                <a:schemeClr val="lt1"/>
              </a:solidFill>
            </a:endParaRPr>
          </a:p>
        </p:txBody>
      </p:sp>
      <p:pic>
        <p:nvPicPr>
          <p:cNvPr id="146" name="Google Shape;146;p9"/>
          <p:cNvPicPr preferRelativeResize="0"/>
          <p:nvPr/>
        </p:nvPicPr>
        <p:blipFill>
          <a:blip r:embed="rId6">
            <a:alphaModFix/>
          </a:blip>
          <a:stretch>
            <a:fillRect/>
          </a:stretch>
        </p:blipFill>
        <p:spPr>
          <a:xfrm>
            <a:off x="705100" y="970662"/>
            <a:ext cx="5027499" cy="25369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p10"/>
          <p:cNvSpPr/>
          <p:nvPr/>
        </p:nvSpPr>
        <p:spPr>
          <a:xfrm>
            <a:off x="530340" y="54853"/>
            <a:ext cx="10515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2FBF7"/>
              </a:buClr>
              <a:buSzPts val="3000"/>
              <a:buFont typeface="Cambria"/>
              <a:buNone/>
            </a:pPr>
            <a:r>
              <a:rPr b="1" lang="en-US" sz="3000">
                <a:solidFill>
                  <a:schemeClr val="lt1"/>
                </a:solidFill>
                <a:latin typeface="Cambria"/>
                <a:ea typeface="Cambria"/>
                <a:cs typeface="Cambria"/>
                <a:sym typeface="Cambria"/>
              </a:rPr>
              <a:t>Out-of-Sample Predictive Power &amp; Operational Nowcasting</a:t>
            </a:r>
            <a:endParaRPr b="1" i="0" sz="3000" u="none" cap="none" strike="noStrike">
              <a:solidFill>
                <a:schemeClr val="lt1"/>
              </a:solidFill>
              <a:latin typeface="Cambria"/>
              <a:ea typeface="Cambria"/>
              <a:cs typeface="Cambria"/>
              <a:sym typeface="Cambria"/>
            </a:endParaRPr>
          </a:p>
        </p:txBody>
      </p:sp>
      <p:sp>
        <p:nvSpPr>
          <p:cNvPr id="153" name="Google Shape;153;p10"/>
          <p:cNvSpPr txBox="1"/>
          <p:nvPr/>
        </p:nvSpPr>
        <p:spPr>
          <a:xfrm>
            <a:off x="1225050" y="1121963"/>
            <a:ext cx="9741900" cy="2838300"/>
          </a:xfrm>
          <a:prstGeom prst="rect">
            <a:avLst/>
          </a:prstGeom>
          <a:solidFill>
            <a:srgbClr val="000000">
              <a:alpha val="73640"/>
            </a:srgbClr>
          </a:solidFill>
          <a:ln>
            <a:noFill/>
          </a:ln>
        </p:spPr>
        <p:txBody>
          <a:bodyPr anchorCtr="0" anchor="t" bIns="91425" lIns="91425" spcFirstLastPara="1" rIns="91425" wrap="square" tIns="91425">
            <a:noAutofit/>
          </a:bodyPr>
          <a:lstStyle/>
          <a:p>
            <a:pPr indent="-292100" lvl="0" marL="457200" rtl="0" algn="l">
              <a:lnSpc>
                <a:spcPct val="115000"/>
              </a:lnSpc>
              <a:spcBef>
                <a:spcPts val="1200"/>
              </a:spcBef>
              <a:spcAft>
                <a:spcPts val="0"/>
              </a:spcAft>
              <a:buClr>
                <a:schemeClr val="lt1"/>
              </a:buClr>
              <a:buSzPts val="1000"/>
              <a:buChar char="●"/>
            </a:pPr>
            <a:r>
              <a:rPr b="1" lang="en-US" sz="1000">
                <a:solidFill>
                  <a:schemeClr val="lt1"/>
                </a:solidFill>
              </a:rPr>
              <a:t>Walk-Forward Methodology:</a:t>
            </a:r>
            <a:r>
              <a:rPr lang="en-US" sz="1000">
                <a:solidFill>
                  <a:schemeClr val="lt1"/>
                </a:solidFill>
              </a:rPr>
              <a:t> To simulate live </a:t>
            </a:r>
            <a:r>
              <a:rPr lang="en-US" sz="1000">
                <a:solidFill>
                  <a:schemeClr val="lt1"/>
                </a:solidFill>
              </a:rPr>
              <a:t>deployment</a:t>
            </a:r>
            <a:r>
              <a:rPr lang="en-US" sz="1000">
                <a:solidFill>
                  <a:schemeClr val="lt1"/>
                </a:solidFill>
              </a:rPr>
              <a:t>, we executed a 92-step walk-forward validation with an initial </a:t>
            </a:r>
            <a:r>
              <a:rPr lang="en-US" sz="1000">
                <a:solidFill>
                  <a:schemeClr val="lt1"/>
                </a:solidFill>
              </a:rPr>
              <a:t>training</a:t>
            </a:r>
            <a:r>
              <a:rPr lang="en-US" sz="1000">
                <a:solidFill>
                  <a:schemeClr val="lt1"/>
                </a:solidFill>
              </a:rPr>
              <a:t> data from 2013 - 2017. At each monthly step from 2018 to 2025, the model predicts one month ahead, ingests the newly revealed data point of the previous month, and dynamically re-estimates its coefficients.</a:t>
            </a:r>
            <a:endParaRPr sz="1000">
              <a:solidFill>
                <a:schemeClr val="lt1"/>
              </a:solidFill>
            </a:endParaRPr>
          </a:p>
          <a:p>
            <a:pPr indent="-292100" lvl="0" marL="457200" rtl="0" algn="l">
              <a:lnSpc>
                <a:spcPct val="115000"/>
              </a:lnSpc>
              <a:spcBef>
                <a:spcPts val="1200"/>
              </a:spcBef>
              <a:spcAft>
                <a:spcPts val="0"/>
              </a:spcAft>
              <a:buClr>
                <a:schemeClr val="lt1"/>
              </a:buClr>
              <a:buSzPts val="1000"/>
              <a:buChar char="●"/>
            </a:pPr>
            <a:r>
              <a:rPr b="1" lang="en-US" sz="1000">
                <a:solidFill>
                  <a:schemeClr val="lt1"/>
                </a:solidFill>
              </a:rPr>
              <a:t>12.0% Lift in Directional Accuracy (MDA):</a:t>
            </a:r>
            <a:r>
              <a:rPr lang="en-US" sz="1000">
                <a:solidFill>
                  <a:schemeClr val="lt1"/>
                </a:solidFill>
              </a:rPr>
              <a:t> Adding VIIRS orbital thermal data increases Mean Directional Accuracy from </a:t>
            </a:r>
            <a:r>
              <a:rPr b="1" lang="en-US" sz="1000">
                <a:solidFill>
                  <a:schemeClr val="lt1"/>
                </a:solidFill>
              </a:rPr>
              <a:t>56.5%</a:t>
            </a:r>
            <a:r>
              <a:rPr lang="en-US" sz="1000">
                <a:solidFill>
                  <a:schemeClr val="lt1"/>
                </a:solidFill>
              </a:rPr>
              <a:t> (Baseline ARIMA) to </a:t>
            </a:r>
            <a:r>
              <a:rPr b="1" lang="en-US" sz="1000">
                <a:solidFill>
                  <a:schemeClr val="lt1"/>
                </a:solidFill>
              </a:rPr>
              <a:t>68.5%</a:t>
            </a:r>
            <a:r>
              <a:rPr lang="en-US" sz="1000">
                <a:solidFill>
                  <a:schemeClr val="lt1"/>
                </a:solidFill>
              </a:rPr>
              <a:t> (ARIMAX). A naive T−1 forecast scores </a:t>
            </a:r>
            <a:r>
              <a:rPr b="1" lang="en-US" sz="1000">
                <a:solidFill>
                  <a:schemeClr val="lt1"/>
                </a:solidFill>
              </a:rPr>
              <a:t>0.0%</a:t>
            </a:r>
            <a:r>
              <a:rPr lang="en-US" sz="1000">
                <a:solidFill>
                  <a:schemeClr val="lt1"/>
                </a:solidFill>
              </a:rPr>
              <a:t> because it assumes zero month-over-month change.</a:t>
            </a:r>
            <a:endParaRPr sz="1000">
              <a:solidFill>
                <a:schemeClr val="lt1"/>
              </a:solidFill>
            </a:endParaRPr>
          </a:p>
          <a:p>
            <a:pPr indent="0" lvl="0" marL="0" rtl="0" algn="l">
              <a:lnSpc>
                <a:spcPct val="115000"/>
              </a:lnSpc>
              <a:spcBef>
                <a:spcPts val="1200"/>
              </a:spcBef>
              <a:spcAft>
                <a:spcPts val="0"/>
              </a:spcAft>
              <a:buNone/>
            </a:pPr>
            <a:r>
              <a:rPr b="1" lang="en-US" sz="1000">
                <a:solidFill>
                  <a:schemeClr val="lt1"/>
                </a:solidFill>
              </a:rPr>
              <a:t>Why ARIMAX Beats OLS &amp; XGBoost on Precision (MAE):</a:t>
            </a:r>
            <a:endParaRPr b="1" sz="1000">
              <a:solidFill>
                <a:schemeClr val="lt1"/>
              </a:solidFill>
            </a:endParaRPr>
          </a:p>
          <a:p>
            <a:pPr indent="-292100" lvl="0" marL="457200" rtl="0" algn="l">
              <a:lnSpc>
                <a:spcPct val="115000"/>
              </a:lnSpc>
              <a:spcBef>
                <a:spcPts val="1200"/>
              </a:spcBef>
              <a:spcAft>
                <a:spcPts val="0"/>
              </a:spcAft>
              <a:buClr>
                <a:schemeClr val="lt1"/>
              </a:buClr>
              <a:buSzPts val="1000"/>
              <a:buChar char="●"/>
            </a:pPr>
            <a:r>
              <a:rPr b="1" lang="en-US" sz="1000">
                <a:solidFill>
                  <a:schemeClr val="lt1"/>
                </a:solidFill>
              </a:rPr>
              <a:t>vs. OLS Regression (1.33M MCF MAE):</a:t>
            </a:r>
            <a:r>
              <a:rPr lang="en-US" sz="1000">
                <a:solidFill>
                  <a:schemeClr val="lt1"/>
                </a:solidFill>
              </a:rPr>
              <a:t> While OLS catches the almost the same direction accuracy (</a:t>
            </a:r>
            <a:r>
              <a:rPr b="1" lang="en-US" sz="1000">
                <a:solidFill>
                  <a:schemeClr val="lt1"/>
                </a:solidFill>
              </a:rPr>
              <a:t>67.4% MDA</a:t>
            </a:r>
            <a:r>
              <a:rPr lang="en-US" sz="1000">
                <a:solidFill>
                  <a:schemeClr val="lt1"/>
                </a:solidFill>
              </a:rPr>
              <a:t>), its error doubles because it lacks autoregressive lag memory and the momentum from previous months.</a:t>
            </a:r>
            <a:endParaRPr sz="1000">
              <a:solidFill>
                <a:schemeClr val="lt1"/>
              </a:solidFill>
            </a:endParaRPr>
          </a:p>
          <a:p>
            <a:pPr indent="-292100" lvl="0" marL="457200" rtl="0" algn="l">
              <a:lnSpc>
                <a:spcPct val="115000"/>
              </a:lnSpc>
              <a:spcBef>
                <a:spcPts val="0"/>
              </a:spcBef>
              <a:spcAft>
                <a:spcPts val="0"/>
              </a:spcAft>
              <a:buClr>
                <a:schemeClr val="lt1"/>
              </a:buClr>
              <a:buSzPts val="1000"/>
              <a:buChar char="●"/>
            </a:pPr>
            <a:r>
              <a:rPr b="1" lang="en-US" sz="1000">
                <a:solidFill>
                  <a:schemeClr val="lt1"/>
                </a:solidFill>
              </a:rPr>
              <a:t>vs. XGBoost (711k MCF MAE):</a:t>
            </a:r>
            <a:r>
              <a:rPr lang="en-US" sz="1000">
                <a:solidFill>
                  <a:schemeClr val="lt1"/>
                </a:solidFill>
              </a:rPr>
              <a:t> XGBoost captures decent direction (</a:t>
            </a:r>
            <a:r>
              <a:rPr b="1" lang="en-US" sz="1000">
                <a:solidFill>
                  <a:schemeClr val="lt1"/>
                </a:solidFill>
              </a:rPr>
              <a:t>65.2% MDA</a:t>
            </a:r>
            <a:r>
              <a:rPr lang="en-US" sz="1000">
                <a:solidFill>
                  <a:schemeClr val="lt1"/>
                </a:solidFill>
              </a:rPr>
              <a:t>), but suffers a </a:t>
            </a:r>
            <a:r>
              <a:rPr b="1" lang="en-US" sz="1000">
                <a:solidFill>
                  <a:schemeClr val="lt1"/>
                </a:solidFill>
              </a:rPr>
              <a:t>+88,000 MCF MAE penalty</a:t>
            </a:r>
            <a:r>
              <a:rPr lang="en-US" sz="1000">
                <a:solidFill>
                  <a:schemeClr val="lt1"/>
                </a:solidFill>
              </a:rPr>
              <a:t> because decision trees hit leaf-node extrapolation boundaries during record-breaking volume surges.</a:t>
            </a:r>
            <a:endParaRPr sz="1000">
              <a:solidFill>
                <a:schemeClr val="lt1"/>
              </a:solidFill>
            </a:endParaRPr>
          </a:p>
        </p:txBody>
      </p:sp>
      <p:pic>
        <p:nvPicPr>
          <p:cNvPr id="154" name="Google Shape;154;p10"/>
          <p:cNvPicPr preferRelativeResize="0"/>
          <p:nvPr/>
        </p:nvPicPr>
        <p:blipFill>
          <a:blip r:embed="rId4">
            <a:alphaModFix/>
          </a:blip>
          <a:stretch>
            <a:fillRect/>
          </a:stretch>
        </p:blipFill>
        <p:spPr>
          <a:xfrm>
            <a:off x="530350" y="3960275"/>
            <a:ext cx="5175851" cy="2731176"/>
          </a:xfrm>
          <a:prstGeom prst="rect">
            <a:avLst/>
          </a:prstGeom>
          <a:noFill/>
          <a:ln>
            <a:noFill/>
          </a:ln>
        </p:spPr>
      </p:pic>
      <p:sp>
        <p:nvSpPr>
          <p:cNvPr id="155" name="Google Shape;155;p10"/>
          <p:cNvSpPr txBox="1"/>
          <p:nvPr/>
        </p:nvSpPr>
        <p:spPr>
          <a:xfrm>
            <a:off x="530350" y="556500"/>
            <a:ext cx="9191700" cy="37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lt1"/>
                </a:solidFill>
              </a:rPr>
              <a:t>92-Month Walk-Forward Validation (Jan 2018 – Aug 2025) across unseen data:</a:t>
            </a:r>
            <a:endParaRPr>
              <a:solidFill>
                <a:schemeClr val="lt1"/>
              </a:solidFill>
            </a:endParaRPr>
          </a:p>
        </p:txBody>
      </p:sp>
      <p:pic>
        <p:nvPicPr>
          <p:cNvPr id="156" name="Google Shape;156;p10"/>
          <p:cNvPicPr preferRelativeResize="0"/>
          <p:nvPr/>
        </p:nvPicPr>
        <p:blipFill>
          <a:blip r:embed="rId5">
            <a:alphaModFix/>
          </a:blip>
          <a:stretch>
            <a:fillRect/>
          </a:stretch>
        </p:blipFill>
        <p:spPr>
          <a:xfrm>
            <a:off x="6488150" y="3999600"/>
            <a:ext cx="5058376" cy="25242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1" name="Shape 161"/>
        <p:cNvGrpSpPr/>
        <p:nvPr/>
      </p:nvGrpSpPr>
      <p:grpSpPr>
        <a:xfrm>
          <a:off x="0" y="0"/>
          <a:ext cx="0" cy="0"/>
          <a:chOff x="0" y="0"/>
          <a:chExt cx="0" cy="0"/>
        </a:xfrm>
      </p:grpSpPr>
      <p:sp>
        <p:nvSpPr>
          <p:cNvPr id="162" name="Google Shape;162;p11"/>
          <p:cNvSpPr txBox="1"/>
          <p:nvPr/>
        </p:nvSpPr>
        <p:spPr>
          <a:xfrm>
            <a:off x="1696000" y="200800"/>
            <a:ext cx="8918700" cy="6525000"/>
          </a:xfrm>
          <a:prstGeom prst="rect">
            <a:avLst/>
          </a:prstGeom>
          <a:solidFill>
            <a:srgbClr val="000000">
              <a:alpha val="47269"/>
            </a:srgbClr>
          </a:solid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b="1" sz="1000">
              <a:solidFill>
                <a:schemeClr val="lt1"/>
              </a:solidFill>
            </a:endParaRPr>
          </a:p>
          <a:p>
            <a:pPr indent="0" lvl="0" marL="0" rtl="0" algn="l">
              <a:lnSpc>
                <a:spcPct val="115000"/>
              </a:lnSpc>
              <a:spcBef>
                <a:spcPts val="1200"/>
              </a:spcBef>
              <a:spcAft>
                <a:spcPts val="0"/>
              </a:spcAft>
              <a:buNone/>
            </a:pPr>
            <a:r>
              <a:rPr b="1" lang="en-US" sz="1000">
                <a:solidFill>
                  <a:schemeClr val="lt1"/>
                </a:solidFill>
              </a:rPr>
              <a:t>CONCLUSIONS:</a:t>
            </a:r>
            <a:endParaRPr b="1" sz="1000">
              <a:solidFill>
                <a:schemeClr val="lt1"/>
              </a:solidFill>
            </a:endParaRPr>
          </a:p>
          <a:p>
            <a:pPr indent="0" lvl="0" marL="0" rtl="0" algn="l">
              <a:lnSpc>
                <a:spcPct val="115000"/>
              </a:lnSpc>
              <a:spcBef>
                <a:spcPts val="1200"/>
              </a:spcBef>
              <a:spcAft>
                <a:spcPts val="0"/>
              </a:spcAft>
              <a:buNone/>
            </a:pPr>
            <a:r>
              <a:t/>
            </a:r>
            <a:endParaRPr b="1" sz="1000">
              <a:solidFill>
                <a:schemeClr val="lt1"/>
              </a:solidFill>
            </a:endParaRPr>
          </a:p>
          <a:p>
            <a:pPr indent="-292100" lvl="0" marL="457200" rtl="0" algn="l">
              <a:lnSpc>
                <a:spcPct val="115000"/>
              </a:lnSpc>
              <a:spcBef>
                <a:spcPts val="1200"/>
              </a:spcBef>
              <a:spcAft>
                <a:spcPts val="0"/>
              </a:spcAft>
              <a:buClr>
                <a:schemeClr val="lt1"/>
              </a:buClr>
              <a:buSzPts val="1000"/>
              <a:buChar char="●"/>
            </a:pPr>
            <a:r>
              <a:rPr b="1" lang="en-US" sz="1000">
                <a:solidFill>
                  <a:schemeClr val="lt1"/>
                </a:solidFill>
              </a:rPr>
              <a:t>Bridging the Regulatory Blind Spot:</a:t>
            </a:r>
            <a:r>
              <a:rPr lang="en-US" sz="1000">
                <a:solidFill>
                  <a:schemeClr val="lt1"/>
                </a:solidFill>
              </a:rPr>
              <a:t> </a:t>
            </a:r>
            <a:endParaRPr sz="1000">
              <a:solidFill>
                <a:schemeClr val="lt1"/>
              </a:solidFill>
            </a:endParaRPr>
          </a:p>
          <a:p>
            <a:pPr indent="0" lvl="0" marL="457200" rtl="0" algn="l">
              <a:lnSpc>
                <a:spcPct val="115000"/>
              </a:lnSpc>
              <a:spcBef>
                <a:spcPts val="1200"/>
              </a:spcBef>
              <a:spcAft>
                <a:spcPts val="0"/>
              </a:spcAft>
              <a:buNone/>
            </a:pPr>
            <a:r>
              <a:rPr lang="en-US" sz="1000">
                <a:solidFill>
                  <a:schemeClr val="lt1"/>
                </a:solidFill>
              </a:rPr>
              <a:t>Our model delivers flaring volume estimates to overcome the Texas Railroad Commission's </a:t>
            </a:r>
            <a:r>
              <a:rPr b="1" lang="en-US" sz="1000">
                <a:solidFill>
                  <a:schemeClr val="lt1"/>
                </a:solidFill>
              </a:rPr>
              <a:t>1- to 2-month reporting delay</a:t>
            </a:r>
            <a:r>
              <a:rPr lang="en-US" sz="1000">
                <a:solidFill>
                  <a:schemeClr val="lt1"/>
                </a:solidFill>
              </a:rPr>
              <a:t>, converting satellite heat signals into flaring data weeks before official filings are published.</a:t>
            </a:r>
            <a:endParaRPr sz="1000">
              <a:solidFill>
                <a:schemeClr val="lt1"/>
              </a:solidFill>
            </a:endParaRPr>
          </a:p>
          <a:p>
            <a:pPr indent="0" lvl="0" marL="457200" rtl="0" algn="l">
              <a:lnSpc>
                <a:spcPct val="115000"/>
              </a:lnSpc>
              <a:spcBef>
                <a:spcPts val="1200"/>
              </a:spcBef>
              <a:spcAft>
                <a:spcPts val="0"/>
              </a:spcAft>
              <a:buNone/>
            </a:pPr>
            <a:r>
              <a:t/>
            </a:r>
            <a:endParaRPr sz="1000">
              <a:solidFill>
                <a:schemeClr val="lt1"/>
              </a:solidFill>
            </a:endParaRPr>
          </a:p>
          <a:p>
            <a:pPr indent="0" lvl="0" marL="0" rtl="0" algn="l">
              <a:lnSpc>
                <a:spcPct val="115000"/>
              </a:lnSpc>
              <a:spcBef>
                <a:spcPts val="1200"/>
              </a:spcBef>
              <a:spcAft>
                <a:spcPts val="0"/>
              </a:spcAft>
              <a:buNone/>
            </a:pPr>
            <a:r>
              <a:t/>
            </a:r>
            <a:endParaRPr b="1" sz="1100">
              <a:solidFill>
                <a:schemeClr val="lt1"/>
              </a:solidFill>
            </a:endParaRPr>
          </a:p>
          <a:p>
            <a:pPr indent="457200" lvl="0" marL="2743200" rtl="0" algn="l">
              <a:lnSpc>
                <a:spcPct val="115000"/>
              </a:lnSpc>
              <a:spcBef>
                <a:spcPts val="1200"/>
              </a:spcBef>
              <a:spcAft>
                <a:spcPts val="0"/>
              </a:spcAft>
              <a:buNone/>
            </a:pPr>
            <a:r>
              <a:t/>
            </a:r>
            <a:endParaRPr b="1" sz="1100">
              <a:solidFill>
                <a:schemeClr val="lt1"/>
              </a:solidFill>
            </a:endParaRPr>
          </a:p>
          <a:p>
            <a:pPr indent="457200" lvl="0" marL="2743200" rtl="0" algn="l">
              <a:lnSpc>
                <a:spcPct val="115000"/>
              </a:lnSpc>
              <a:spcBef>
                <a:spcPts val="1200"/>
              </a:spcBef>
              <a:spcAft>
                <a:spcPts val="0"/>
              </a:spcAft>
              <a:buNone/>
            </a:pPr>
            <a:r>
              <a:t/>
            </a:r>
            <a:endParaRPr b="1" sz="1100">
              <a:solidFill>
                <a:schemeClr val="lt1"/>
              </a:solidFill>
            </a:endParaRPr>
          </a:p>
          <a:p>
            <a:pPr indent="457200" lvl="0" marL="2743200" rtl="0" algn="l">
              <a:lnSpc>
                <a:spcPct val="115000"/>
              </a:lnSpc>
              <a:spcBef>
                <a:spcPts val="1200"/>
              </a:spcBef>
              <a:spcAft>
                <a:spcPts val="0"/>
              </a:spcAft>
              <a:buNone/>
            </a:pPr>
            <a:r>
              <a:rPr b="1" lang="en-US" sz="1100">
                <a:solidFill>
                  <a:schemeClr val="lt1"/>
                </a:solidFill>
              </a:rPr>
              <a:t>Who Benefits?</a:t>
            </a:r>
            <a:endParaRPr b="1" sz="1100">
              <a:solidFill>
                <a:schemeClr val="lt1"/>
              </a:solidFill>
            </a:endParaRPr>
          </a:p>
          <a:p>
            <a:pPr indent="0" lvl="0" marL="2743200" rtl="0" algn="l">
              <a:lnSpc>
                <a:spcPct val="200000"/>
              </a:lnSpc>
              <a:spcBef>
                <a:spcPts val="1200"/>
              </a:spcBef>
              <a:spcAft>
                <a:spcPts val="0"/>
              </a:spcAft>
              <a:buNone/>
            </a:pPr>
            <a:r>
              <a:t/>
            </a:r>
            <a:endParaRPr sz="1100">
              <a:solidFill>
                <a:schemeClr val="lt1"/>
              </a:solidFill>
            </a:endParaRPr>
          </a:p>
          <a:p>
            <a:pPr indent="-298450" lvl="0" marL="2743200" rtl="0" algn="l">
              <a:lnSpc>
                <a:spcPct val="200000"/>
              </a:lnSpc>
              <a:spcBef>
                <a:spcPts val="1200"/>
              </a:spcBef>
              <a:spcAft>
                <a:spcPts val="0"/>
              </a:spcAft>
              <a:buClr>
                <a:schemeClr val="lt1"/>
              </a:buClr>
              <a:buSzPts val="1100"/>
              <a:buChar char="●"/>
            </a:pPr>
            <a:r>
              <a:rPr lang="en-US" sz="1100">
                <a:solidFill>
                  <a:schemeClr val="lt1"/>
                </a:solidFill>
              </a:rPr>
              <a:t>Commodity Traders</a:t>
            </a:r>
            <a:endParaRPr sz="1100">
              <a:solidFill>
                <a:schemeClr val="lt1"/>
              </a:solidFill>
            </a:endParaRPr>
          </a:p>
          <a:p>
            <a:pPr indent="-298450" lvl="0" marL="2743200" rtl="0" algn="l">
              <a:lnSpc>
                <a:spcPct val="200000"/>
              </a:lnSpc>
              <a:spcBef>
                <a:spcPts val="1000"/>
              </a:spcBef>
              <a:spcAft>
                <a:spcPts val="0"/>
              </a:spcAft>
              <a:buClr>
                <a:schemeClr val="lt1"/>
              </a:buClr>
              <a:buSzPts val="1100"/>
              <a:buChar char="●"/>
            </a:pPr>
            <a:r>
              <a:rPr lang="en-US" sz="1100">
                <a:solidFill>
                  <a:schemeClr val="lt1"/>
                </a:solidFill>
              </a:rPr>
              <a:t>Environment Regulators - EPA, Texas RRC</a:t>
            </a:r>
            <a:endParaRPr sz="1100">
              <a:solidFill>
                <a:schemeClr val="lt1"/>
              </a:solidFill>
            </a:endParaRPr>
          </a:p>
          <a:p>
            <a:pPr indent="-298450" lvl="0" marL="2743200" rtl="0" algn="l">
              <a:lnSpc>
                <a:spcPct val="200000"/>
              </a:lnSpc>
              <a:spcBef>
                <a:spcPts val="1200"/>
              </a:spcBef>
              <a:spcAft>
                <a:spcPts val="0"/>
              </a:spcAft>
              <a:buClr>
                <a:schemeClr val="lt1"/>
              </a:buClr>
              <a:buSzPts val="1100"/>
              <a:buChar char="●"/>
            </a:pPr>
            <a:r>
              <a:rPr lang="en-US" sz="1100">
                <a:solidFill>
                  <a:schemeClr val="lt1"/>
                </a:solidFill>
              </a:rPr>
              <a:t>Pipeline Planners</a:t>
            </a:r>
            <a:endParaRPr sz="1100">
              <a:solidFill>
                <a:schemeClr val="lt1"/>
              </a:solidFill>
            </a:endParaRPr>
          </a:p>
          <a:p>
            <a:pPr indent="0" lvl="0" marL="0" rtl="0" algn="l">
              <a:spcBef>
                <a:spcPts val="1000"/>
              </a:spcBef>
              <a:spcAft>
                <a:spcPts val="0"/>
              </a:spcAft>
              <a:buNone/>
            </a:pPr>
            <a:r>
              <a:t/>
            </a:r>
            <a:endParaRPr/>
          </a:p>
        </p:txBody>
      </p:sp>
      <p:sp>
        <p:nvSpPr>
          <p:cNvPr id="163" name="Google Shape;163;p1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monthly_flaring_density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8" name="Shape 168"/>
        <p:cNvGrpSpPr/>
        <p:nvPr/>
      </p:nvGrpSpPr>
      <p:grpSpPr>
        <a:xfrm>
          <a:off x="0" y="0"/>
          <a:ext cx="0" cy="0"/>
          <a:chOff x="0" y="0"/>
          <a:chExt cx="0" cy="0"/>
        </a:xfrm>
      </p:grpSpPr>
      <p:sp>
        <p:nvSpPr>
          <p:cNvPr id="169" name="Google Shape;169;p12"/>
          <p:cNvSpPr txBox="1"/>
          <p:nvPr/>
        </p:nvSpPr>
        <p:spPr>
          <a:xfrm>
            <a:off x="606000" y="623450"/>
            <a:ext cx="10980000" cy="770700"/>
          </a:xfrm>
          <a:prstGeom prst="rect">
            <a:avLst/>
          </a:prstGeom>
          <a:solidFill>
            <a:srgbClr val="000000">
              <a:alpha val="4726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F2FBF7"/>
              </a:buClr>
              <a:buSzPts val="3000"/>
              <a:buFont typeface="Cambria"/>
              <a:buNone/>
            </a:pPr>
            <a:r>
              <a:rPr b="1" lang="en-US" sz="3300">
                <a:solidFill>
                  <a:srgbClr val="F2FBF7"/>
                </a:solidFill>
                <a:latin typeface="Cambria"/>
                <a:ea typeface="Cambria"/>
                <a:cs typeface="Cambria"/>
                <a:sym typeface="Cambria"/>
              </a:rPr>
              <a:t>Thank you!</a:t>
            </a:r>
            <a:endParaRPr sz="3600">
              <a:solidFill>
                <a:schemeClr val="lt1"/>
              </a:solidFill>
            </a:endParaRPr>
          </a:p>
        </p:txBody>
      </p:sp>
      <p:pic>
        <p:nvPicPr>
          <p:cNvPr id="170" name="Google Shape;170;p12" title="flaring_animation_no_blur.gif"/>
          <p:cNvPicPr preferRelativeResize="0"/>
          <p:nvPr/>
        </p:nvPicPr>
        <p:blipFill>
          <a:blip r:embed="rId4">
            <a:alphaModFix/>
          </a:blip>
          <a:stretch>
            <a:fillRect/>
          </a:stretch>
        </p:blipFill>
        <p:spPr>
          <a:xfrm>
            <a:off x="6851600" y="1854600"/>
            <a:ext cx="4200675" cy="3780576"/>
          </a:xfrm>
          <a:prstGeom prst="rect">
            <a:avLst/>
          </a:prstGeom>
          <a:noFill/>
          <a:ln>
            <a:noFill/>
          </a:ln>
        </p:spPr>
      </p:pic>
      <p:pic>
        <p:nvPicPr>
          <p:cNvPr id="171" name="Google Shape;171;p12" title="monthly_flaring_density.gif"/>
          <p:cNvPicPr preferRelativeResize="0"/>
          <p:nvPr/>
        </p:nvPicPr>
        <p:blipFill>
          <a:blip r:embed="rId5">
            <a:alphaModFix/>
          </a:blip>
          <a:stretch>
            <a:fillRect/>
          </a:stretch>
        </p:blipFill>
        <p:spPr>
          <a:xfrm>
            <a:off x="1008825" y="1854600"/>
            <a:ext cx="3983432" cy="3780575"/>
          </a:xfrm>
          <a:prstGeom prst="rect">
            <a:avLst/>
          </a:prstGeom>
          <a:noFill/>
          <a:ln>
            <a:noFill/>
          </a:ln>
        </p:spPr>
      </p:pic>
      <p:sp>
        <p:nvSpPr>
          <p:cNvPr id="172" name="Google Shape;172;p12"/>
          <p:cNvSpPr txBox="1"/>
          <p:nvPr/>
        </p:nvSpPr>
        <p:spPr>
          <a:xfrm>
            <a:off x="2167888" y="1978225"/>
            <a:ext cx="1665300" cy="2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solidFill>
                  <a:schemeClr val="lt1"/>
                </a:solidFill>
              </a:rPr>
              <a:t>VIIRS Satellite Radiant Heat</a:t>
            </a:r>
            <a:endParaRPr sz="9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